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77" r:id="rId4"/>
    <p:sldId id="278" r:id="rId5"/>
    <p:sldId id="260" r:id="rId6"/>
    <p:sldId id="263" r:id="rId7"/>
    <p:sldId id="264" r:id="rId8"/>
    <p:sldId id="265" r:id="rId9"/>
    <p:sldId id="273" r:id="rId10"/>
    <p:sldId id="274" r:id="rId11"/>
    <p:sldId id="266" r:id="rId12"/>
    <p:sldId id="267" r:id="rId13"/>
    <p:sldId id="268" r:id="rId14"/>
    <p:sldId id="275" r:id="rId15"/>
    <p:sldId id="269" r:id="rId16"/>
    <p:sldId id="280" r:id="rId17"/>
    <p:sldId id="281" r:id="rId18"/>
    <p:sldId id="282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r>
              <a:rPr lang="ru-RU" sz="5400" cap="all" spc="150" dirty="0">
                <a:solidFill>
                  <a:schemeClr val="bg1">
                    <a:lumMod val="95000"/>
                  </a:schemeClr>
                </a:solidFill>
                <a:latin typeface="Corbel (Заголовки)"/>
              </a:rPr>
              <a:t>ВЫПУСКНАЯ</a:t>
            </a:r>
            <a:br>
              <a:rPr lang="en-US" sz="5400" cap="all" spc="150" dirty="0">
                <a:solidFill>
                  <a:schemeClr val="bg1">
                    <a:lumMod val="95000"/>
                  </a:schemeClr>
                </a:solidFill>
                <a:latin typeface="Corbel (Заголовки)"/>
              </a:rPr>
            </a:br>
            <a:r>
              <a:rPr lang="ru-RU" sz="5400" cap="all" spc="150" dirty="0">
                <a:solidFill>
                  <a:schemeClr val="bg1">
                    <a:lumMod val="95000"/>
                  </a:schemeClr>
                </a:solidFill>
                <a:latin typeface="Corbel (Заголовки)"/>
              </a:rPr>
              <a:t>КВАЛИФИКАЦИОННАЯ РАБОТА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Тема: 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автоматизированной информационной системы по ведению базы данных разработки web-сайтов на базе платформы .NET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61397" y="0"/>
            <a:ext cx="6669206" cy="147732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500329"/>
              </p:ext>
            </p:extLst>
          </p:nvPr>
        </p:nvGraphicFramePr>
        <p:xfrm>
          <a:off x="858541" y="5083049"/>
          <a:ext cx="10723419" cy="701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Выполнил: Солоников Антон Сергеевич</a:t>
                      </a:r>
                    </a:p>
                    <a:p>
                      <a:pPr marL="0" algn="l" defTabSz="914400" rtl="0" eaLnBrk="1" latinLnBrk="0" hangingPunct="1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Руководитель:</a:t>
                      </a:r>
                      <a:r>
                        <a:rPr lang="ru-RU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Харчева Ольга Евгеньевна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21201" y="6111642"/>
            <a:ext cx="3149599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R="180340" algn="ctr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R="180340" algn="ctr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Актуальность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3440" y="1306286"/>
            <a:ext cx="10511246" cy="5486400"/>
          </a:xfrm>
        </p:spPr>
        <p:txBody>
          <a:bodyPr anchor="t">
            <a:noAutofit/>
          </a:bodyPr>
          <a:lstStyle/>
          <a:p>
            <a:pPr marL="0" indent="54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информационные технологии играют ключевую роль в деятельности организаций, оказывающих услуги по разработке web-сайтов, и стали необходимым условием их конкурентоспособности. С ростом спроса на качественные web-решения увеличивается число клиентов и объём поступающих заказов, в связи с чем эффективность работы компаний напрямую зависит от скорости обработки заявок, контроля сроков выполнения проектов и учёта стоимости услуг.</a:t>
            </a:r>
          </a:p>
          <a:p>
            <a:pPr marL="0" indent="54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обусловлена необходимостью создания эффективных инструментов для управления рабочим процессом и заявками в сфере разработки web-сайтов, что позволит повысить качество обслуживания и сократить временные затраты на выполнение задач.</a:t>
            </a: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0377" y="1382304"/>
            <a:ext cx="10511246" cy="4929051"/>
          </a:xfrm>
        </p:spPr>
        <p:txBody>
          <a:bodyPr anchor="ctr">
            <a:noAutofit/>
          </a:bodyPr>
          <a:lstStyle/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выпускной квалификационной работы заключается в разработке автоматизированной информационной системы по ведению базы данных разработки web-сайтов на базе платформы .NET.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Разрабатываемая информационная система должна обладать следующими особенностями: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продуманный и удобный интерфейс в соответствии с поставленной задачей;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форму авторизации пользователей;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разграничение прав доступа для ролей: администратор, менеджер, директор;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ведения и редактирования базы данных: добавление, удаление, редактирование и сохранение данных;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ведения учёта клиентов, услуг и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12692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0377" y="1373596"/>
            <a:ext cx="10511246" cy="5484404"/>
          </a:xfrm>
        </p:spPr>
        <p:txBody>
          <a:bodyPr anchor="ctr">
            <a:noAutofit/>
          </a:bodyPr>
          <a:lstStyle/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оформления заказа на разработку web-сайта с использованием каталога услуг;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автоматического расчёта стоимости заказа с учётом скидок и наценок;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контроля статусов заказов и сроков выполнения;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формирования и печати чека по заказу в MS Word или PDF;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формирования и экспорта отчётов по заказам в MS Excel или PDF;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резервного копирования и восстановления базы данных;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динамического поиска, сортировки и фильтрации записей базы данных;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обеспечивать контроль вводимых данных и защиту конфиденциальной информации.</a:t>
            </a:r>
          </a:p>
          <a:p>
            <a:pPr marL="0" indent="540000">
              <a:lnSpc>
                <a:spcPct val="12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– C#. База данных составляется в MySQL.</a:t>
            </a:r>
          </a:p>
        </p:txBody>
      </p:sp>
    </p:spTree>
    <p:extLst>
      <p:ext uri="{BB962C8B-B14F-4D97-AF65-F5344CB8AC3E}">
        <p14:creationId xmlns:p14="http://schemas.microsoft.com/office/powerpoint/2010/main" val="2315041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Microsoft Access Logo in SVG Vector or PNG File Format - Logo.wine">
            <a:extLst>
              <a:ext uri="{FF2B5EF4-FFF2-40B4-BE49-F238E27FC236}">
                <a16:creationId xmlns:a16="http://schemas.microsoft.com/office/drawing/2014/main" id="{C0187B6C-A53F-4E6C-9FCE-BB139860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412" y="4273205"/>
            <a:ext cx="2863960" cy="190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392" y="4641510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57CD0C29-0E8C-4E9A-A037-B933E84EF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84" y="4561119"/>
            <a:ext cx="1333479" cy="1333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19C221F-B191-46A7-BE83-7172ED7EE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428" y="1967418"/>
            <a:ext cx="3213674" cy="1402939"/>
          </a:xfrm>
          <a:prstGeom prst="rect">
            <a:avLst/>
          </a:prstGeom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000"/>
            <a:ext cx="12192000" cy="759600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Обоснование выбора среды разработки</a:t>
            </a:r>
          </a:p>
        </p:txBody>
      </p:sp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97C6CC-6CD1-4845-A37D-476D0D453A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761" y="1967418"/>
            <a:ext cx="2831813" cy="14029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B2EE36B-65B7-466B-856D-39E224C352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3137" y="1460263"/>
            <a:ext cx="2088801" cy="2088801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344122AD-91C9-4EB0-8A04-95A47AB72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750" y="4222789"/>
            <a:ext cx="2236642" cy="167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70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  <a:latin typeface="Corbel (Заголовки)"/>
              </a:rPr>
              <a:t>ER</a:t>
            </a:r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-диаграмма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111BF1-6678-4B88-82CE-3E43BB102F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75305" y="1326470"/>
            <a:ext cx="6041390" cy="545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67A4A0-3DFB-42D5-8EF9-6BED6F16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99" y="1305469"/>
            <a:ext cx="4030842" cy="35190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87A916-70DA-4BBF-A7A3-20554A73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22" y="1305469"/>
            <a:ext cx="2811000" cy="47697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4AC6E8-37B8-4289-A90A-3A4D00E1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107" y="1305469"/>
            <a:ext cx="4524549" cy="377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5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CFC79D-18B0-4DBD-92EB-C8BD01296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32" y="1336765"/>
            <a:ext cx="3755434" cy="40538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68AC8A0-BDF6-47CC-9BCB-599A6161E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06" y="1336765"/>
            <a:ext cx="3698961" cy="39928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A98C191-1BC0-4DBF-9EAB-DA904896A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279" y="1336765"/>
            <a:ext cx="4093527" cy="326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FA64B7-6D3B-4A8C-A63B-C11BAEE77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16" y="1346453"/>
            <a:ext cx="4468339" cy="26922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6543F5-837B-4A20-A147-1AB254D12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042" y="4145758"/>
            <a:ext cx="3329885" cy="26529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8A23D3A-3C4A-4E13-94A9-DB57F2863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775" y="1385762"/>
            <a:ext cx="4405593" cy="265295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F3024C6-E8D2-43F8-8380-447DD7115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924" y="4145758"/>
            <a:ext cx="3063648" cy="26529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4BF6698-C8A4-4B55-99A0-678B8D01E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073" y="4145758"/>
            <a:ext cx="4465381" cy="265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D1E4B1-5CFF-4A5B-B54F-4E268633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8" y="1297577"/>
            <a:ext cx="4392684" cy="27519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377C20-FF7A-49CB-BC2A-70CA7B0C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860" y="1297576"/>
            <a:ext cx="4392684" cy="275190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E6D021-96B8-46D0-89F4-CEFA50F91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8" y="4137387"/>
            <a:ext cx="4392684" cy="26291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064C409-2AD4-4D3B-8ADC-E65254F7D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126" y="1297576"/>
            <a:ext cx="2999849" cy="186281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DE2382A-57E1-4CE7-812F-B6E1871E6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011" y="4935814"/>
            <a:ext cx="2999849" cy="186281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1540F56-5314-4ADC-9ECF-931440B69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693" y="4137386"/>
            <a:ext cx="2999849" cy="195072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05C2D8D-2F24-4CFE-8820-C14C0FBAB5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7011" y="3248296"/>
            <a:ext cx="2651504" cy="159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57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08DAF5-6AED-4605-AB20-F365F2F16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753" y="1539849"/>
            <a:ext cx="5209514" cy="32636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79C76F-BD2F-4B4F-A2EA-E3056567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690" y="1782024"/>
            <a:ext cx="2185095" cy="329395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8751B9-913C-485B-951F-1B68504A4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0" y="1782024"/>
            <a:ext cx="2185097" cy="329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9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D72BA3-3F10-44F1-8391-4A0AFF340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213" y="4311559"/>
            <a:ext cx="3872566" cy="2471309"/>
          </a:xfrm>
          <a:prstGeom prst="rect">
            <a:avLst/>
          </a:prstGeom>
        </p:spPr>
      </p:pic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5CCC66-95B5-471F-A783-80033A513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7" y="3309257"/>
            <a:ext cx="5544687" cy="34736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2E8B73-17CE-46D9-A6E9-F45DE975A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231" y="1280159"/>
            <a:ext cx="4077582" cy="29609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252EA5-699F-4661-8B73-524920205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424" y="1280160"/>
            <a:ext cx="2176257" cy="240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4E7213-9041-46D7-A86A-51277060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" y="1314994"/>
            <a:ext cx="4086863" cy="2560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14C8C3-E54D-49D7-8E15-FDAC8585E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5" y="3923210"/>
            <a:ext cx="4086862" cy="28965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8D4F14-6EC5-4A43-B1E1-5F908AEAD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275" y="1314994"/>
            <a:ext cx="5198935" cy="325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BB8B52-012E-47CE-B1C1-BD210B29C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588" y="1383526"/>
            <a:ext cx="5999580" cy="24273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D71341-F9C2-431A-B46E-1FC2C660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588" y="3810898"/>
            <a:ext cx="4876647" cy="29851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AA446A8-66FE-49AC-9D81-C6BA8E151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38" y="1367246"/>
            <a:ext cx="2897241" cy="544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57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Применяемые меры защиты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010022" y="2512843"/>
            <a:ext cx="3333750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Скрытие персональных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3943" y="2459570"/>
            <a:ext cx="2979855" cy="64633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lvl="0" algn="ctr"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авторизации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090829" y="2520925"/>
            <a:ext cx="384722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Авторизованный пользователь не может удалить сам себя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921315" y="4711125"/>
            <a:ext cx="35111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записи у которых есть связи невозможно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054981" y="3668708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444277" y="4678076"/>
            <a:ext cx="3140329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только после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подтверждения 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D9F968-EB95-47B4-BC75-CC7B8E587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305" y="3148891"/>
            <a:ext cx="3368275" cy="141822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B4FBE4D-8293-4609-9C22-993EF7725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146" y="5324407"/>
            <a:ext cx="3377503" cy="1376355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DEC7E2-3935-48CF-9554-B164967DDAA9}"/>
              </a:ext>
            </a:extLst>
          </p:cNvPr>
          <p:cNvSpPr/>
          <p:nvPr/>
        </p:nvSpPr>
        <p:spPr>
          <a:xfrm>
            <a:off x="156753" y="1283864"/>
            <a:ext cx="11731353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000" algn="just">
              <a:lnSpc>
                <a:spcPct val="120000"/>
              </a:lnSpc>
            </a:pPr>
            <a:r>
              <a:rPr lang="ru-RU" sz="2000" dirty="0">
                <a:effectLst/>
              </a:rPr>
              <a:t>Защита данных </a:t>
            </a:r>
            <a:r>
              <a:rPr lang="en-US" sz="2000" dirty="0">
                <a:effectLst/>
              </a:rPr>
              <a:t>– </a:t>
            </a:r>
            <a:r>
              <a:rPr lang="ru-RU" sz="2000" dirty="0">
                <a:effectLst/>
              </a:rPr>
              <a:t>это предотвращение несанкционированного доступа, изменения или удаления информации, а также защита данных при сбоях программных и аппаратных средств.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effectLst/>
              </a:rPr>
              <a:t>В разработанной АИС применяются следующие меры защиты информации: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BB08106-93E1-4F2E-9243-143F9593C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4" y="3118790"/>
            <a:ext cx="3235511" cy="232563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20124AA-6DE5-4AA9-9A9A-015724B11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971" y="2904153"/>
            <a:ext cx="4604040" cy="68603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BADC123-67EF-48DF-AFE2-8B31D01302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1752" y="4058865"/>
            <a:ext cx="3334215" cy="61921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DB95E1-CF40-4BE9-BC72-C0060C78F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517" y="5324407"/>
            <a:ext cx="3381847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Применяемые меры защиты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98354" y="1296288"/>
            <a:ext cx="3333750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Парольная защита базы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4853" y="1209675"/>
            <a:ext cx="1261884" cy="45807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lvl="0" algn="ctr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CAPTCHA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56250" y="3862964"/>
            <a:ext cx="384722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Резервное копирование и восстановление базы данных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629677" y="4232366"/>
            <a:ext cx="4017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Подтверждение выхода из приложения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822288" y="1296288"/>
            <a:ext cx="3433383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</a:rPr>
              <a:t>Контроль вводимой информации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30AA15-F178-4671-8FE1-F880C732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99" y="1665620"/>
            <a:ext cx="2886592" cy="217988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609E437-69E5-49D6-831E-352F2AAA2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171" y="1665620"/>
            <a:ext cx="2326116" cy="39469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D2BB2FC-0BEC-4708-B15B-191F24636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41" y="4473972"/>
            <a:ext cx="3089246" cy="234870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4EE2ECB-77B1-42E1-8F7B-9512C96BE73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003992" y="1665620"/>
            <a:ext cx="3069974" cy="258416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9DD2F45-61E8-425A-AD52-BD0C0CAE9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091" y="4619115"/>
            <a:ext cx="341042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3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Обоснование экономической эффективности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7AB7B6-453D-4398-9828-8BD2387ED0C3}"/>
              </a:ext>
            </a:extLst>
          </p:cNvPr>
          <p:cNvSpPr txBox="1"/>
          <p:nvPr/>
        </p:nvSpPr>
        <p:spPr>
          <a:xfrm>
            <a:off x="757647" y="1073275"/>
            <a:ext cx="10894423" cy="596939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540000" algn="just">
              <a:lnSpc>
                <a:spcPct val="12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аналогов были рассмотрены Битрикс24, </a:t>
            </a:r>
            <a:r>
              <a:rPr lang="ru-RU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amoCRM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1С:Управление нашей фирмой, </a:t>
            </a:r>
            <a:r>
              <a:rPr lang="ru-RU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Asana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Большинство аналогов имеют высокую стоимость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приобретения или подписку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зависят от интернет-соединения и сторонних серверов, избыточный функционал и отсутствие расчета стоимости заказов, скидок и надбавок.</a:t>
            </a:r>
          </a:p>
          <a:p>
            <a:pPr indent="540000" algn="just">
              <a:lnSpc>
                <a:spcPct val="12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разработанной АИС: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540000" algn="just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интерфейс, адаптированный под разработку web-сайтов;</a:t>
            </a:r>
          </a:p>
          <a:p>
            <a:pPr marL="0" marR="0" lvl="0" indent="540000" algn="just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 для администратора, менеджера и директора;</a:t>
            </a:r>
          </a:p>
          <a:p>
            <a:pPr marL="0" marR="0" lvl="0" indent="540000" algn="just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расчёт стоимости заказа;</a:t>
            </a:r>
          </a:p>
          <a:p>
            <a:pPr marL="0" marR="0" lvl="0" indent="540000" algn="just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чеков и отчётов в MS Word, MS Excel или PDF;</a:t>
            </a:r>
          </a:p>
          <a:p>
            <a:pPr marL="0" marR="0" lvl="0" indent="540000" algn="just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и защита информации;</a:t>
            </a:r>
          </a:p>
          <a:p>
            <a:pPr marL="0" marR="0" lvl="0" indent="540000" algn="just" defTabSz="914400" rtl="0" eaLnBrk="0" fontAlgn="base" latinLnBrk="0" hangingPunct="0">
              <a:lnSpc>
                <a:spcPct val="120000"/>
              </a:lnSpc>
              <a:buClrTx/>
              <a:buSzTx/>
              <a:tabLst/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работа без зависимости от сторонних сервисов.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Цена разработки 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27 433,12 руб.</a:t>
            </a:r>
          </a:p>
          <a:p>
            <a:pPr>
              <a:lnSpc>
                <a:spcPct val="12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Отпускная цена одной копии 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 руб.</a:t>
            </a:r>
            <a:b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Прогнозируемая выручка 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35 400 руб./год.</a:t>
            </a:r>
            <a:b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Срок окупаемости 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около 11 месяцев.</a:t>
            </a:r>
          </a:p>
          <a:p>
            <a:pPr indent="540000" algn="just">
              <a:lnSpc>
                <a:spcPct val="12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59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42950" y="1257941"/>
            <a:ext cx="10987496" cy="560005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indent="540000">
              <a:lnSpc>
                <a:spcPct val="12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выпускной квалификационной работы была разработана автоматизированная информационная система по ведению базы данных разработки web-сайтов на базе платформы .NET.</a:t>
            </a:r>
          </a:p>
          <a:p>
            <a:pPr indent="540000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</a:rPr>
              <a:t>В процессе написания программного кода использовался высокоуровневый язык программирования </a:t>
            </a:r>
            <a:r>
              <a:rPr lang="en-US" sz="2000" dirty="0">
                <a:latin typeface="Times New Roman" panose="02020603050405020304" pitchFamily="18" charset="0"/>
              </a:rPr>
              <a:t>C#</a:t>
            </a:r>
            <a:r>
              <a:rPr lang="ru-RU" sz="2000" dirty="0">
                <a:latin typeface="Times New Roman" panose="02020603050405020304" pitchFamily="18" charset="0"/>
              </a:rPr>
              <a:t>. Были улучшены навыки по работе с платформой .NET. </a:t>
            </a:r>
            <a:endParaRPr lang="ru-RU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40000">
              <a:lnSpc>
                <a:spcPct val="12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система полностью соответствует поставленным задачам и позволяет автоматизировать учёт клиентов, услуг и заказов, оформление заказов, расчёт стоимости, контроль сроков выполнения, формирование чеков и отчётов.</a:t>
            </a:r>
          </a:p>
          <a:p>
            <a:pPr indent="540000">
              <a:lnSpc>
                <a:spcPct val="12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программе реализовано разграничение прав доступа для трёх ролей, поиск, сортировка и фильтрация данных, резервное копирование и восстановление базы данных, импорт и экспорт данных, CAPTCHA при авторизации, пагинация, защита персональных данных и автоматическая блокировка системы при отсутствии активности пользователя.</a:t>
            </a:r>
          </a:p>
          <a:p>
            <a:pPr indent="540000">
              <a:lnSpc>
                <a:spcPct val="12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дальнейшем программный продукт может быть усовершенствован путём доработки интерфейса, расширения функционала отчётов и адаптации системы под требования конкретных организаций, занимающихся разработкой web-сайтов.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Corbel (Заголовки)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868491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r>
              <a:rPr lang="ru-RU" sz="5400" cap="all" spc="150" dirty="0">
                <a:solidFill>
                  <a:schemeClr val="bg1">
                    <a:lumMod val="95000"/>
                  </a:schemeClr>
                </a:solidFill>
                <a:latin typeface="Corbel (Заголовки)"/>
              </a:rPr>
              <a:t>ВЫПУСКНАЯ</a:t>
            </a:r>
            <a:br>
              <a:rPr lang="en-US" sz="5400" cap="all" spc="150" dirty="0">
                <a:solidFill>
                  <a:schemeClr val="bg1">
                    <a:lumMod val="95000"/>
                  </a:schemeClr>
                </a:solidFill>
                <a:latin typeface="Corbel (Заголовки)"/>
              </a:rPr>
            </a:br>
            <a:r>
              <a:rPr lang="ru-RU" sz="5400" cap="all" spc="150" dirty="0">
                <a:solidFill>
                  <a:schemeClr val="bg1">
                    <a:lumMod val="95000"/>
                  </a:schemeClr>
                </a:solidFill>
                <a:latin typeface="Corbel (Заголовки)"/>
              </a:rPr>
              <a:t>КВАЛИФИКАЦИОННАЯ РАБОТА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Тема: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автоматизированной информационной системы по ведению базы данных разработки web-сайтов на базе платформы .NET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61397" y="0"/>
            <a:ext cx="6669206" cy="147732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58541" y="5083049"/>
          <a:ext cx="10723419" cy="701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Выполнил: Солоников Антон Сергеевич</a:t>
                      </a:r>
                    </a:p>
                    <a:p>
                      <a:pPr marL="0" algn="l" defTabSz="914400" rtl="0" eaLnBrk="1" latinLnBrk="0" hangingPunct="1"/>
                      <a:r>
                        <a:rPr lang="ru-RU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Руководитель:</a:t>
                      </a:r>
                      <a:r>
                        <a:rPr lang="ru-RU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Харчева Ольга Евгеньевна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21201" y="6111642"/>
            <a:ext cx="3149599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R="180340" algn="ctr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R="180340" algn="ctr"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1864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Words>825</Words>
  <Application>Microsoft Office PowerPoint</Application>
  <PresentationFormat>Широкоэкранный</PresentationFormat>
  <Paragraphs>85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Corbel (Заголовки)</vt:lpstr>
      <vt:lpstr>Times New Roman</vt:lpstr>
      <vt:lpstr>Тема Office</vt:lpstr>
      <vt:lpstr>ВЫПУСКНАЯ КВАЛИФИКАЦИОННАЯ РАБОТА</vt:lpstr>
      <vt:lpstr>Актуальность темы</vt:lpstr>
      <vt:lpstr>Постановка задачи</vt:lpstr>
      <vt:lpstr>Постановка задачи</vt:lpstr>
      <vt:lpstr>Обоснование выбора среды разработки</vt:lpstr>
      <vt:lpstr>Структура БД – ER-диаграмма</vt:lpstr>
      <vt:lpstr>Программные модули</vt:lpstr>
      <vt:lpstr>Программные модули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ВЫПУСКНАЯ КВАЛИФИКАЦИОННАЯ РАБОТА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Антон Солоников</cp:lastModifiedBy>
  <cp:revision>141</cp:revision>
  <dcterms:created xsi:type="dcterms:W3CDTF">2022-06-15T10:15:27Z</dcterms:created>
  <dcterms:modified xsi:type="dcterms:W3CDTF">2026-06-14T20:10:53Z</dcterms:modified>
</cp:coreProperties>
</file>