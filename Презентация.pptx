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939" r:id="rId1"/>
  </p:sldMasterIdLst>
  <p:sldIdLst>
    <p:sldId id="256" r:id="rId2"/>
    <p:sldId id="257" r:id="rId3"/>
    <p:sldId id="277" r:id="rId4"/>
    <p:sldId id="278" r:id="rId5"/>
    <p:sldId id="260" r:id="rId6"/>
    <p:sldId id="263" r:id="rId7"/>
    <p:sldId id="283" r:id="rId8"/>
    <p:sldId id="284" r:id="rId9"/>
    <p:sldId id="264" r:id="rId10"/>
    <p:sldId id="265" r:id="rId11"/>
    <p:sldId id="273" r:id="rId12"/>
    <p:sldId id="274" r:id="rId13"/>
    <p:sldId id="266" r:id="rId14"/>
    <p:sldId id="267" r:id="rId15"/>
    <p:sldId id="268" r:id="rId16"/>
    <p:sldId id="275" r:id="rId17"/>
    <p:sldId id="269" r:id="rId18"/>
    <p:sldId id="280" r:id="rId19"/>
    <p:sldId id="281" r:id="rId20"/>
    <p:sldId id="282" r:id="rId21"/>
    <p:sldId id="279" r:id="rId2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123BA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Нет стиля, нет сетки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456" y="10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60EA64-D806-43AC-9DF2-F8C432F32B4C}" type="datetimeFigureOut">
              <a:rPr lang="en-US" smtClean="0"/>
              <a:pPr/>
              <a:t>6/15/2026</a:t>
            </a:fld>
            <a:endParaRPr lang="en-US" dirty="0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0975234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70A7B3-6521-4DCA-87E5-044747A908C1}" type="datetimeFigureOut">
              <a:rPr lang="en-US" smtClean="0"/>
              <a:pPr/>
              <a:t>6/15/2026</a:t>
            </a:fld>
            <a:endParaRPr lang="en-US" dirty="0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8662297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60EA64-D806-43AC-9DF2-F8C432F32B4C}" type="datetimeFigureOut">
              <a:rPr lang="en-US" smtClean="0"/>
              <a:pPr/>
              <a:t>6/15/2026</a:t>
            </a:fld>
            <a:endParaRPr lang="en-US" dirty="0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5589607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134690-1557-4C89-A502-4959FE7FAD70}" type="datetimeFigureOut">
              <a:rPr lang="en-US" smtClean="0"/>
              <a:pPr/>
              <a:t>6/15/2026</a:t>
            </a:fld>
            <a:endParaRPr lang="en-US" dirty="0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997509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7D4976-E339-4826-83B7-FBD03F55ECF8}" type="datetimeFigureOut">
              <a:rPr lang="en-US" smtClean="0"/>
              <a:pPr/>
              <a:t>6/15/2026</a:t>
            </a:fld>
            <a:endParaRPr lang="en-US" dirty="0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9199471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037C31-9E7A-4F99-8774-A0E530DE1A42}" type="datetimeFigureOut">
              <a:rPr lang="en-US" smtClean="0"/>
              <a:pPr/>
              <a:t>6/15/2026</a:t>
            </a:fld>
            <a:endParaRPr lang="en-US" dirty="0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97427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78504F-A551-4DE0-9316-4DCD1D8CC752}" type="datetimeFigureOut">
              <a:rPr lang="en-US" smtClean="0"/>
              <a:pPr/>
              <a:t>6/15/2026</a:t>
            </a:fld>
            <a:endParaRPr lang="en-US" dirty="0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4094478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60EA64-D806-43AC-9DF2-F8C432F32B4C}" type="datetimeFigureOut">
              <a:rPr lang="en-US" smtClean="0"/>
              <a:pPr/>
              <a:t>6/15/2026</a:t>
            </a:fld>
            <a:endParaRPr lang="en-US" dirty="0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1543988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60EA64-D806-43AC-9DF2-F8C432F32B4C}" type="datetimeFigureOut">
              <a:rPr lang="en-US" smtClean="0"/>
              <a:pPr/>
              <a:t>6/15/2026</a:t>
            </a:fld>
            <a:endParaRPr lang="en-US" dirty="0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491524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F9C37B-1D36-470B-8223-D6C91242EC14}" type="datetimeFigureOut">
              <a:rPr lang="en-US" smtClean="0"/>
              <a:pPr/>
              <a:t>6/15/2026</a:t>
            </a:fld>
            <a:endParaRPr lang="en-US" dirty="0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879779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C6F52A-A82B-47A2-A83A-8C4C91F2D59F}" type="datetimeFigureOut">
              <a:rPr lang="en-US" smtClean="0"/>
              <a:pPr/>
              <a:t>6/15/2026</a:t>
            </a:fld>
            <a:endParaRPr lang="en-US" dirty="0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7033327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160EA64-D806-43AC-9DF2-F8C432F32B4C}" type="datetimeFigureOut">
              <a:rPr lang="en-US" smtClean="0"/>
              <a:pPr/>
              <a:t>6/15/2026</a:t>
            </a:fld>
            <a:endParaRPr lang="en-US" dirty="0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A7A6979-0714-4377-B894-6BE4C2D6E20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058518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40" r:id="rId1"/>
    <p:sldLayoutId id="2147483941" r:id="rId2"/>
    <p:sldLayoutId id="2147483942" r:id="rId3"/>
    <p:sldLayoutId id="2147483943" r:id="rId4"/>
    <p:sldLayoutId id="2147483944" r:id="rId5"/>
    <p:sldLayoutId id="2147483945" r:id="rId6"/>
    <p:sldLayoutId id="2147483946" r:id="rId7"/>
    <p:sldLayoutId id="2147483947" r:id="rId8"/>
    <p:sldLayoutId id="2147483948" r:id="rId9"/>
    <p:sldLayoutId id="2147483949" r:id="rId10"/>
    <p:sldLayoutId id="2147483950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jpe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3" Type="http://schemas.openxmlformats.org/officeDocument/2006/relationships/image" Target="../media/image25.png"/><Relationship Id="rId7" Type="http://schemas.openxmlformats.org/officeDocument/2006/relationships/image" Target="../media/image29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7.png"/><Relationship Id="rId4" Type="http://schemas.openxmlformats.org/officeDocument/2006/relationships/image" Target="../media/image36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0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3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7" Type="http://schemas.openxmlformats.org/officeDocument/2006/relationships/image" Target="../media/image49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8.png"/><Relationship Id="rId5" Type="http://schemas.openxmlformats.org/officeDocument/2006/relationships/image" Target="../media/image47.png"/><Relationship Id="rId4" Type="http://schemas.openxmlformats.org/officeDocument/2006/relationships/image" Target="../media/image46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4.png"/><Relationship Id="rId5" Type="http://schemas.openxmlformats.org/officeDocument/2006/relationships/image" Target="../media/image53.png"/><Relationship Id="rId4" Type="http://schemas.openxmlformats.org/officeDocument/2006/relationships/image" Target="../media/image52.png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" y="2064183"/>
            <a:ext cx="12192000" cy="1540482"/>
          </a:xfrm>
          <a:solidFill>
            <a:srgbClr val="00B0F0"/>
          </a:solidFill>
          <a:ln>
            <a:solidFill>
              <a:srgbClr val="00B0F0"/>
            </a:solidFill>
          </a:ln>
        </p:spPr>
        <p:txBody>
          <a:bodyPr>
            <a:noAutofit/>
          </a:bodyPr>
          <a:lstStyle/>
          <a:p>
            <a:r>
              <a:rPr lang="ru-RU" sz="5400" cap="all" spc="150" dirty="0">
                <a:solidFill>
                  <a:schemeClr val="bg1">
                    <a:lumMod val="95000"/>
                  </a:schemeClr>
                </a:solidFill>
                <a:latin typeface="Corbel (Заголовки)"/>
              </a:rPr>
              <a:t>ВЫПУСКНАЯ</a:t>
            </a:r>
            <a:br>
              <a:rPr lang="en-US" sz="5400" cap="all" spc="150" dirty="0">
                <a:solidFill>
                  <a:schemeClr val="bg1">
                    <a:lumMod val="95000"/>
                  </a:schemeClr>
                </a:solidFill>
                <a:latin typeface="Corbel (Заголовки)"/>
              </a:rPr>
            </a:br>
            <a:r>
              <a:rPr lang="ru-RU" sz="5400" cap="all" spc="150" dirty="0">
                <a:solidFill>
                  <a:schemeClr val="bg1">
                    <a:lumMod val="95000"/>
                  </a:schemeClr>
                </a:solidFill>
                <a:latin typeface="Corbel (Заголовки)"/>
              </a:rPr>
              <a:t>КВАЛИФИКАЦИОННАЯ РАБОТА</a:t>
            </a: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2147454" y="3756280"/>
            <a:ext cx="7897091" cy="1175153"/>
          </a:xfrm>
        </p:spPr>
        <p:txBody>
          <a:bodyPr/>
          <a:lstStyle/>
          <a:p>
            <a:r>
              <a:rPr lang="ru-RU" b="1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Тема: </a:t>
            </a:r>
            <a:r>
              <a:rPr lang="ru-RU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Разработка автоматизированной информационной системы по ведению базы данных разработки web-сайтов на базе платформы .NET</a:t>
            </a:r>
          </a:p>
        </p:txBody>
      </p:sp>
      <p:sp>
        <p:nvSpPr>
          <p:cNvPr id="4" name="Прямоугольник 3"/>
          <p:cNvSpPr/>
          <p:nvPr/>
        </p:nvSpPr>
        <p:spPr>
          <a:xfrm>
            <a:off x="2761397" y="0"/>
            <a:ext cx="6669206" cy="1477328"/>
          </a:xfrm>
          <a:prstGeom prst="rect">
            <a:avLst/>
          </a:prstGeom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lang="ru-RU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</a:rPr>
              <a:t>Министерство образования Нижегородской области</a:t>
            </a:r>
            <a:endParaRPr lang="ru-RU" sz="1600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algn="ctr">
              <a:spcAft>
                <a:spcPts val="0"/>
              </a:spcAft>
            </a:pPr>
            <a:r>
              <a:rPr lang="ru-RU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</a:rPr>
              <a:t>Государственное бюджетное профессиональное </a:t>
            </a:r>
            <a:br>
              <a:rPr lang="ru-RU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</a:rPr>
            </a:br>
            <a:r>
              <a:rPr lang="ru-RU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</a:rPr>
              <a:t>образовательное учреждение</a:t>
            </a:r>
            <a:endParaRPr lang="ru-RU" sz="1600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algn="ctr">
              <a:spcAft>
                <a:spcPts val="0"/>
              </a:spcAft>
            </a:pPr>
            <a:r>
              <a:rPr lang="ru-RU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</a:rPr>
              <a:t> «Заволжский автомоторный техникум»</a:t>
            </a:r>
            <a:endParaRPr lang="ru-RU" sz="1600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algn="ctr">
              <a:spcAft>
                <a:spcPts val="0"/>
              </a:spcAft>
            </a:pPr>
            <a:r>
              <a:rPr lang="ru-RU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</a:rPr>
              <a:t>(ГБПОУ ЗАМТ)</a:t>
            </a:r>
            <a:endParaRPr lang="ru-RU" sz="1600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graphicFrame>
        <p:nvGraphicFramePr>
          <p:cNvPr id="5" name="Таблица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67500329"/>
              </p:ext>
            </p:extLst>
          </p:nvPr>
        </p:nvGraphicFramePr>
        <p:xfrm>
          <a:off x="858541" y="5083049"/>
          <a:ext cx="10723419" cy="7010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5577765">
                  <a:extLst>
                    <a:ext uri="{9D8B030D-6E8A-4147-A177-3AD203B41FA5}">
                      <a16:colId xmlns:a16="http://schemas.microsoft.com/office/drawing/2014/main" val="856406293"/>
                    </a:ext>
                  </a:extLst>
                </a:gridCol>
                <a:gridCol w="5145654">
                  <a:extLst>
                    <a:ext uri="{9D8B030D-6E8A-4147-A177-3AD203B41FA5}">
                      <a16:colId xmlns:a16="http://schemas.microsoft.com/office/drawing/2014/main" val="357759205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2000" kern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Выполнил: Солоников Антон Сергеевич</a:t>
                      </a:r>
                    </a:p>
                    <a:p>
                      <a:pPr marL="0" algn="l" defTabSz="914400" rtl="0" eaLnBrk="1" latinLnBrk="0" hangingPunct="1"/>
                      <a:r>
                        <a:rPr lang="ru-RU" sz="2000" kern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                       Студент группы ИС-22А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Руководитель:</a:t>
                      </a:r>
                      <a:r>
                        <a:rPr lang="ru-RU" sz="2000" baseline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Харчева Ольга Евгеньевна</a:t>
                      </a:r>
                      <a:endParaRPr lang="ru-RU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476427313"/>
                  </a:ext>
                </a:extLst>
              </a:tr>
            </a:tbl>
          </a:graphicData>
        </a:graphic>
      </p:graphicFrame>
      <p:sp>
        <p:nvSpPr>
          <p:cNvPr id="6" name="Прямоугольник 5"/>
          <p:cNvSpPr/>
          <p:nvPr/>
        </p:nvSpPr>
        <p:spPr>
          <a:xfrm>
            <a:off x="4521201" y="6111642"/>
            <a:ext cx="3149599" cy="707886"/>
          </a:xfrm>
          <a:prstGeom prst="rect">
            <a:avLst/>
          </a:prstGeom>
        </p:spPr>
        <p:txBody>
          <a:bodyPr wrap="square" anchor="ctr">
            <a:spAutoFit/>
          </a:bodyPr>
          <a:lstStyle/>
          <a:p>
            <a:pPr marR="180340" algn="ctr">
              <a:spcAft>
                <a:spcPts val="0"/>
              </a:spcAft>
            </a:pPr>
            <a:r>
              <a:rPr lang="ru-RU" sz="20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Заволжье</a:t>
            </a:r>
          </a:p>
          <a:p>
            <a:pPr marR="180340" algn="ctr">
              <a:spcAft>
                <a:spcPts val="0"/>
              </a:spcAft>
            </a:pPr>
            <a:r>
              <a:rPr lang="ru-RU" sz="20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202</a:t>
            </a:r>
            <a:r>
              <a:rPr lang="en-US" sz="20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6</a:t>
            </a:r>
            <a:endParaRPr lang="ru-RU" sz="2000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9053413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0" y="450850"/>
            <a:ext cx="12192000" cy="758825"/>
          </a:xfrm>
          <a:solidFill>
            <a:srgbClr val="00B0F0"/>
          </a:solidFill>
          <a:ln>
            <a:solidFill>
              <a:srgbClr val="00B0F0"/>
            </a:solidFill>
          </a:ln>
        </p:spPr>
        <p:txBody>
          <a:bodyPr>
            <a:normAutofit/>
          </a:bodyPr>
          <a:lstStyle/>
          <a:p>
            <a:pPr algn="ctr"/>
            <a:r>
              <a:rPr lang="ru-RU" sz="4000" dirty="0">
                <a:solidFill>
                  <a:schemeClr val="bg1"/>
                </a:solidFill>
                <a:latin typeface="Corbel (Заголовки)"/>
              </a:rPr>
              <a:t>Актуальность темы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853440" y="1306286"/>
            <a:ext cx="10511246" cy="5486400"/>
          </a:xfrm>
        </p:spPr>
        <p:txBody>
          <a:bodyPr anchor="t">
            <a:noAutofit/>
          </a:bodyPr>
          <a:lstStyle/>
          <a:p>
            <a:pPr marL="0" indent="540000" algn="just">
              <a:lnSpc>
                <a:spcPct val="150000"/>
              </a:lnSpc>
              <a:spcBef>
                <a:spcPts val="0"/>
              </a:spcBef>
              <a:buNone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 настоящее время информационные технологии играют ключевую роль в деятельности организаций, оказывающих услуги по разработке web-сайтов, и стали необходимым условием их конкурентоспособности. С ростом спроса на качественные web-решения увеличивается число клиентов и объём поступающих заказов, в связи с чем эффективность работы компаний напрямую зависит от скорости обработки заявок, контроля сроков выполнения проектов и учёта стоимости услуг.</a:t>
            </a:r>
          </a:p>
          <a:p>
            <a:pPr marL="0" indent="540000" algn="just">
              <a:lnSpc>
                <a:spcPct val="150000"/>
              </a:lnSpc>
              <a:spcBef>
                <a:spcPts val="0"/>
              </a:spcBef>
              <a:buNone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Актуальность темы обусловлена необходимостью создания эффективных инструментов для управления рабочим процессом и заявками в сфере разработки web-сайтов, что позволит повысить качество обслуживания и сократить временные затраты на выполнение задач.</a:t>
            </a:r>
          </a:p>
        </p:txBody>
      </p:sp>
    </p:spTree>
    <p:extLst>
      <p:ext uri="{BB962C8B-B14F-4D97-AF65-F5344CB8AC3E}">
        <p14:creationId xmlns:p14="http://schemas.microsoft.com/office/powerpoint/2010/main" val="39501118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0" y="450850"/>
            <a:ext cx="12192000" cy="758825"/>
          </a:xfrm>
          <a:solidFill>
            <a:srgbClr val="00B0F0"/>
          </a:solidFill>
          <a:ln>
            <a:solidFill>
              <a:srgbClr val="00B0F0"/>
            </a:solidFill>
          </a:ln>
        </p:spPr>
        <p:txBody>
          <a:bodyPr>
            <a:normAutofit/>
          </a:bodyPr>
          <a:lstStyle/>
          <a:p>
            <a:pPr algn="ctr"/>
            <a:r>
              <a:rPr lang="ru-RU" sz="4000" dirty="0">
                <a:solidFill>
                  <a:schemeClr val="bg1"/>
                </a:solidFill>
                <a:latin typeface="Corbel (Заголовки)"/>
              </a:rPr>
              <a:t>Постановка задачи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840377" y="1382304"/>
            <a:ext cx="10511246" cy="4929051"/>
          </a:xfrm>
        </p:spPr>
        <p:txBody>
          <a:bodyPr anchor="ctr">
            <a:noAutofit/>
          </a:bodyPr>
          <a:lstStyle/>
          <a:p>
            <a:pPr marL="0" indent="540000">
              <a:lnSpc>
                <a:spcPct val="120000"/>
              </a:lnSpc>
              <a:buNone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Задача выпускной квалификационной работы заключается в разработке автоматизированной информационной системы по ведению базы данных разработки web-сайтов на базе платформы .NET.</a:t>
            </a:r>
          </a:p>
          <a:p>
            <a:pPr marL="0" indent="540000">
              <a:lnSpc>
                <a:spcPct val="120000"/>
              </a:lnSpc>
              <a:buNone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Разрабатываемая информационная система должна обладать следующими особенностями:</a:t>
            </a:r>
          </a:p>
          <a:p>
            <a:pPr marL="0" indent="540000">
              <a:lnSpc>
                <a:spcPct val="120000"/>
              </a:lnSpc>
              <a:buNone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иметь продуманный и удобный интерфейс в соответствии с поставленной задачей;</a:t>
            </a:r>
          </a:p>
          <a:p>
            <a:pPr marL="0" indent="540000">
              <a:lnSpc>
                <a:spcPct val="120000"/>
              </a:lnSpc>
              <a:buNone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иметь форму авторизации пользователей;</a:t>
            </a:r>
          </a:p>
          <a:p>
            <a:pPr marL="0" indent="540000">
              <a:lnSpc>
                <a:spcPct val="120000"/>
              </a:lnSpc>
              <a:buNone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иметь разграничение прав доступа для ролей: администратор, менеджер, директор;</a:t>
            </a:r>
          </a:p>
          <a:p>
            <a:pPr marL="0" indent="540000">
              <a:lnSpc>
                <a:spcPct val="120000"/>
              </a:lnSpc>
              <a:buNone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иметь возможность ведения и редактирования базы данных: добавление, удаление, редактирование и сохранение данных;</a:t>
            </a:r>
          </a:p>
          <a:p>
            <a:pPr marL="0" indent="540000">
              <a:lnSpc>
                <a:spcPct val="120000"/>
              </a:lnSpc>
              <a:buNone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иметь возможность ведения учёта клиентов, услуг и заказов;</a:t>
            </a:r>
          </a:p>
        </p:txBody>
      </p:sp>
    </p:spTree>
    <p:extLst>
      <p:ext uri="{BB962C8B-B14F-4D97-AF65-F5344CB8AC3E}">
        <p14:creationId xmlns:p14="http://schemas.microsoft.com/office/powerpoint/2010/main" val="12692093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0" y="450850"/>
            <a:ext cx="12192000" cy="758825"/>
          </a:xfrm>
          <a:solidFill>
            <a:srgbClr val="00B0F0"/>
          </a:solidFill>
          <a:ln>
            <a:solidFill>
              <a:srgbClr val="00B0F0"/>
            </a:solidFill>
          </a:ln>
        </p:spPr>
        <p:txBody>
          <a:bodyPr>
            <a:normAutofit/>
          </a:bodyPr>
          <a:lstStyle/>
          <a:p>
            <a:pPr algn="ctr"/>
            <a:r>
              <a:rPr lang="ru-RU" sz="4000" dirty="0">
                <a:solidFill>
                  <a:schemeClr val="bg1"/>
                </a:solidFill>
                <a:latin typeface="Corbel (Заголовки)"/>
              </a:rPr>
              <a:t>Постановка задачи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840377" y="1373596"/>
            <a:ext cx="10511246" cy="5484404"/>
          </a:xfrm>
        </p:spPr>
        <p:txBody>
          <a:bodyPr anchor="ctr">
            <a:noAutofit/>
          </a:bodyPr>
          <a:lstStyle/>
          <a:p>
            <a:pPr marL="0" indent="540000">
              <a:lnSpc>
                <a:spcPct val="120000"/>
              </a:lnSpc>
              <a:buNone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иметь возможность оформления заказа на разработку web-сайта с использованием каталога услуг;</a:t>
            </a:r>
          </a:p>
          <a:p>
            <a:pPr marL="0" indent="540000">
              <a:lnSpc>
                <a:spcPct val="120000"/>
              </a:lnSpc>
              <a:buNone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иметь возможность автоматического расчёта стоимости заказа с учётом скидок и наценок;</a:t>
            </a:r>
          </a:p>
          <a:p>
            <a:pPr marL="0" indent="540000">
              <a:lnSpc>
                <a:spcPct val="120000"/>
              </a:lnSpc>
              <a:buNone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иметь возможность контроля статусов заказов и сроков выполнения;</a:t>
            </a:r>
          </a:p>
          <a:p>
            <a:pPr marL="0" indent="540000">
              <a:lnSpc>
                <a:spcPct val="120000"/>
              </a:lnSpc>
              <a:buNone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иметь возможность формирования и печати чека по заказу в MS Word или PDF;</a:t>
            </a:r>
          </a:p>
          <a:p>
            <a:pPr marL="0" indent="540000">
              <a:lnSpc>
                <a:spcPct val="120000"/>
              </a:lnSpc>
              <a:buNone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иметь возможность формирования и экспорта отчётов по заказам в MS Excel или PDF;</a:t>
            </a:r>
          </a:p>
          <a:p>
            <a:pPr marL="0" indent="540000">
              <a:lnSpc>
                <a:spcPct val="120000"/>
              </a:lnSpc>
              <a:buNone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иметь возможность резервного копирования и восстановления базы данных;</a:t>
            </a:r>
          </a:p>
          <a:p>
            <a:pPr marL="0" indent="540000">
              <a:lnSpc>
                <a:spcPct val="120000"/>
              </a:lnSpc>
              <a:buNone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иметь возможность динамического поиска, сортировки и фильтрации записей базы данных;</a:t>
            </a:r>
          </a:p>
          <a:p>
            <a:pPr marL="0" indent="540000">
              <a:lnSpc>
                <a:spcPct val="120000"/>
              </a:lnSpc>
              <a:buNone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обеспечивать контроль вводимых данных и защиту конфиденциальной информации.</a:t>
            </a:r>
          </a:p>
          <a:p>
            <a:pPr marL="0" indent="540000">
              <a:lnSpc>
                <a:spcPct val="120000"/>
              </a:lnSpc>
              <a:buNone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Язык программирования – C#. База данных составляется в MySQL.</a:t>
            </a:r>
          </a:p>
        </p:txBody>
      </p:sp>
    </p:spTree>
    <p:extLst>
      <p:ext uri="{BB962C8B-B14F-4D97-AF65-F5344CB8AC3E}">
        <p14:creationId xmlns:p14="http://schemas.microsoft.com/office/powerpoint/2010/main" val="231504157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30" name="Picture 6" descr="Download Microsoft Access Logo in SVG Vector or PNG File Format - Logo.wine">
            <a:extLst>
              <a:ext uri="{FF2B5EF4-FFF2-40B4-BE49-F238E27FC236}">
                <a16:creationId xmlns:a16="http://schemas.microsoft.com/office/drawing/2014/main" id="{C0187B6C-A53F-4E6C-9FCE-BB139860D1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36412" y="4273205"/>
            <a:ext cx="2863960" cy="19093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4" name="Picture 20" descr="https://i0.wp.com/losst.ru/wp-content/uploads/2016/12/sqlite.jp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69392" y="4641510"/>
            <a:ext cx="1880807" cy="12530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" name="Picture 4">
            <a:extLst>
              <a:ext uri="{FF2B5EF4-FFF2-40B4-BE49-F238E27FC236}">
                <a16:creationId xmlns:a16="http://schemas.microsoft.com/office/drawing/2014/main" id="{57CD0C29-0E8C-4E9A-A037-B933E84EFD5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7784" y="4561119"/>
            <a:ext cx="1333479" cy="133347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319C221F-B191-46A7-BE83-7172ED7EE12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17428" y="1967418"/>
            <a:ext cx="3213674" cy="1402939"/>
          </a:xfrm>
          <a:prstGeom prst="rect">
            <a:avLst/>
          </a:prstGeom>
        </p:spPr>
      </p:pic>
      <p:sp>
        <p:nvSpPr>
          <p:cNvPr id="4" name="Заголовок 1"/>
          <p:cNvSpPr>
            <a:spLocks noGrp="1"/>
          </p:cNvSpPr>
          <p:nvPr>
            <p:ph type="title"/>
          </p:nvPr>
        </p:nvSpPr>
        <p:spPr>
          <a:xfrm>
            <a:off x="0" y="450000"/>
            <a:ext cx="12192000" cy="759600"/>
          </a:xfrm>
          <a:solidFill>
            <a:srgbClr val="00B0F0"/>
          </a:solidFill>
          <a:ln>
            <a:solidFill>
              <a:srgbClr val="00B0F0"/>
            </a:solidFill>
          </a:ln>
        </p:spPr>
        <p:txBody>
          <a:bodyPr>
            <a:normAutofit/>
          </a:bodyPr>
          <a:lstStyle/>
          <a:p>
            <a:pPr algn="ctr"/>
            <a:r>
              <a:rPr lang="ru-RU" sz="4000" dirty="0">
                <a:solidFill>
                  <a:schemeClr val="bg1"/>
                </a:solidFill>
                <a:latin typeface="Corbel (Заголовки)"/>
              </a:rPr>
              <a:t>Обоснование выбора среды разработки</a:t>
            </a:r>
          </a:p>
        </p:txBody>
      </p:sp>
      <p:pic>
        <p:nvPicPr>
          <p:cNvPr id="1038" name="Picture 14" descr="https://logo-download.com/wp-content/data/images/png/C++-logo.png"/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054" t="14795" r="29175" b="15280"/>
          <a:stretch/>
        </p:blipFill>
        <p:spPr bwMode="auto">
          <a:xfrm>
            <a:off x="3611455" y="4561119"/>
            <a:ext cx="1194874" cy="1333479"/>
          </a:xfrm>
          <a:prstGeom prst="rect">
            <a:avLst/>
          </a:prstGeom>
          <a:noFill/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6" name="Picture 12" descr="https://miro.medium.com/max/1200/1*w0u2TZpEp3WfKMrlL5jTSw.png"/>
          <p:cNvPicPr>
            <a:picLocks noChangeAspect="1" noChangeArrowheads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585" t="20641" r="25489" b="15409"/>
          <a:stretch/>
        </p:blipFill>
        <p:spPr bwMode="auto">
          <a:xfrm>
            <a:off x="1805330" y="3892838"/>
            <a:ext cx="2236641" cy="2520395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4F97C6CC-6CD1-4845-A37D-476D0D453A5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542761" y="1967418"/>
            <a:ext cx="2831813" cy="1402939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BB2EE36B-65B7-466B-856D-39E224C35279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083137" y="1460263"/>
            <a:ext cx="2088801" cy="2088801"/>
          </a:xfrm>
          <a:prstGeom prst="rect">
            <a:avLst/>
          </a:prstGeom>
        </p:spPr>
      </p:pic>
      <p:pic>
        <p:nvPicPr>
          <p:cNvPr id="16" name="Picture 8">
            <a:extLst>
              <a:ext uri="{FF2B5EF4-FFF2-40B4-BE49-F238E27FC236}">
                <a16:creationId xmlns:a16="http://schemas.microsoft.com/office/drawing/2014/main" id="{344122AD-91C9-4EB0-8A04-95A47AB726E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32750" y="4222789"/>
            <a:ext cx="2236642" cy="16718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1770783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/>
          <p:cNvSpPr>
            <a:spLocks noGrp="1"/>
          </p:cNvSpPr>
          <p:nvPr>
            <p:ph type="title"/>
          </p:nvPr>
        </p:nvSpPr>
        <p:spPr>
          <a:xfrm>
            <a:off x="0" y="450850"/>
            <a:ext cx="12192000" cy="758825"/>
          </a:xfrm>
          <a:solidFill>
            <a:srgbClr val="00B0F0"/>
          </a:solidFill>
          <a:ln>
            <a:solidFill>
              <a:srgbClr val="00B0F0"/>
            </a:solidFill>
          </a:ln>
        </p:spPr>
        <p:txBody>
          <a:bodyPr>
            <a:normAutofit/>
          </a:bodyPr>
          <a:lstStyle/>
          <a:p>
            <a:pPr algn="ctr"/>
            <a:r>
              <a:rPr lang="ru-RU" sz="4000" dirty="0">
                <a:solidFill>
                  <a:schemeClr val="bg1"/>
                </a:solidFill>
                <a:latin typeface="Corbel (Заголовки)"/>
              </a:rPr>
              <a:t>Структура БД – </a:t>
            </a:r>
            <a:r>
              <a:rPr lang="en-US" sz="4000" dirty="0">
                <a:solidFill>
                  <a:schemeClr val="bg1"/>
                </a:solidFill>
                <a:latin typeface="Corbel (Заголовки)"/>
              </a:rPr>
              <a:t>ER</a:t>
            </a:r>
            <a:r>
              <a:rPr lang="ru-RU" sz="4000" dirty="0">
                <a:solidFill>
                  <a:schemeClr val="bg1"/>
                </a:solidFill>
                <a:latin typeface="Corbel (Заголовки)"/>
              </a:rPr>
              <a:t>-диаграмма</a:t>
            </a: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E4111BF1-6678-4B88-82CE-3E43BB102F78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3075305" y="1326470"/>
            <a:ext cx="6041390" cy="54590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254005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/>
          <p:cNvSpPr>
            <a:spLocks noGrp="1"/>
          </p:cNvSpPr>
          <p:nvPr>
            <p:ph type="title"/>
          </p:nvPr>
        </p:nvSpPr>
        <p:spPr>
          <a:xfrm>
            <a:off x="0" y="450850"/>
            <a:ext cx="12192000" cy="758825"/>
          </a:xfrm>
          <a:solidFill>
            <a:srgbClr val="00B0F0"/>
          </a:solidFill>
          <a:ln>
            <a:solidFill>
              <a:srgbClr val="00B0F0"/>
            </a:solidFill>
          </a:ln>
        </p:spPr>
        <p:txBody>
          <a:bodyPr>
            <a:normAutofit/>
          </a:bodyPr>
          <a:lstStyle/>
          <a:p>
            <a:pPr algn="ctr"/>
            <a:r>
              <a:rPr lang="ru-RU" sz="4000" dirty="0">
                <a:solidFill>
                  <a:schemeClr val="bg1"/>
                </a:solidFill>
                <a:latin typeface="Corbel (Заголовки)"/>
              </a:rPr>
              <a:t>Диаграмма вариантов использования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7A44BB36-B65A-4465-A0EC-339FD6F99971}"/>
              </a:ext>
            </a:extLst>
          </p:cNvPr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67000" y="1479232"/>
            <a:ext cx="6858000" cy="4927918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80562828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/>
          <p:cNvSpPr>
            <a:spLocks noGrp="1"/>
          </p:cNvSpPr>
          <p:nvPr>
            <p:ph type="title"/>
          </p:nvPr>
        </p:nvSpPr>
        <p:spPr>
          <a:xfrm>
            <a:off x="0" y="450850"/>
            <a:ext cx="12192000" cy="758825"/>
          </a:xfrm>
          <a:solidFill>
            <a:srgbClr val="00B0F0"/>
          </a:solidFill>
          <a:ln>
            <a:solidFill>
              <a:srgbClr val="00B0F0"/>
            </a:solidFill>
          </a:ln>
        </p:spPr>
        <p:txBody>
          <a:bodyPr>
            <a:normAutofit/>
          </a:bodyPr>
          <a:lstStyle/>
          <a:p>
            <a:pPr algn="ctr"/>
            <a:r>
              <a:rPr lang="ru-RU" sz="4000" dirty="0">
                <a:solidFill>
                  <a:schemeClr val="bg1"/>
                </a:solidFill>
                <a:latin typeface="Corbel (Заголовки)"/>
              </a:rPr>
              <a:t>Диаграмма деятельности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A2EBBB43-20A4-4840-BD58-9168AC536688}"/>
              </a:ext>
            </a:extLst>
          </p:cNvPr>
          <p:cNvPicPr/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06601" y="1310217"/>
            <a:ext cx="8178799" cy="5336116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12148289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/>
          <p:cNvSpPr>
            <a:spLocks noGrp="1"/>
          </p:cNvSpPr>
          <p:nvPr>
            <p:ph type="title"/>
          </p:nvPr>
        </p:nvSpPr>
        <p:spPr>
          <a:xfrm>
            <a:off x="0" y="450850"/>
            <a:ext cx="12192000" cy="758825"/>
          </a:xfrm>
          <a:solidFill>
            <a:srgbClr val="00B0F0"/>
          </a:solidFill>
          <a:ln>
            <a:solidFill>
              <a:srgbClr val="00B0F0"/>
            </a:solidFill>
          </a:ln>
        </p:spPr>
        <p:txBody>
          <a:bodyPr>
            <a:normAutofit/>
          </a:bodyPr>
          <a:lstStyle/>
          <a:p>
            <a:pPr algn="ctr"/>
            <a:r>
              <a:rPr lang="ru-RU" sz="4000" dirty="0">
                <a:solidFill>
                  <a:schemeClr val="bg1"/>
                </a:solidFill>
                <a:latin typeface="Corbel (Заголовки)"/>
              </a:rPr>
              <a:t>Программные модули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1767A4A0-3DFB-42D5-8EF9-6BED6F1688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399" y="1305469"/>
            <a:ext cx="4030842" cy="3519080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9D87A916-70DA-4BBF-A7A3-20554A732D0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12522" y="1305469"/>
            <a:ext cx="2811000" cy="4769728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3D4AC6E8-37B8-4289-A90A-3A4D00E14F1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47107" y="1305469"/>
            <a:ext cx="4524549" cy="3770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585782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/>
          <p:cNvSpPr>
            <a:spLocks noGrp="1"/>
          </p:cNvSpPr>
          <p:nvPr>
            <p:ph type="title"/>
          </p:nvPr>
        </p:nvSpPr>
        <p:spPr>
          <a:xfrm>
            <a:off x="0" y="450850"/>
            <a:ext cx="12192000" cy="758825"/>
          </a:xfrm>
          <a:solidFill>
            <a:srgbClr val="00B0F0"/>
          </a:solidFill>
          <a:ln>
            <a:solidFill>
              <a:srgbClr val="00B0F0"/>
            </a:solidFill>
          </a:ln>
        </p:spPr>
        <p:txBody>
          <a:bodyPr>
            <a:normAutofit/>
          </a:bodyPr>
          <a:lstStyle/>
          <a:p>
            <a:pPr algn="ctr"/>
            <a:r>
              <a:rPr lang="ru-RU" sz="4000" dirty="0">
                <a:solidFill>
                  <a:schemeClr val="bg1"/>
                </a:solidFill>
                <a:latin typeface="Corbel (Заголовки)"/>
              </a:rPr>
              <a:t>Программные модули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80CFC79D-18B0-4DBD-92EB-C8BD01296C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832" y="1336765"/>
            <a:ext cx="3755434" cy="4053841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D68AC8A0-BDF6-47CC-9BCB-599A6161E6D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87206" y="1336765"/>
            <a:ext cx="3698961" cy="3992881"/>
          </a:xfrm>
          <a:prstGeom prst="rect">
            <a:avLst/>
          </a:prstGeom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1A98C191-1BC0-4DBF-9EAB-DA904896AF4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82279" y="1336765"/>
            <a:ext cx="4093527" cy="32613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861586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 txBox="1">
            <a:spLocks/>
          </p:cNvSpPr>
          <p:nvPr/>
        </p:nvSpPr>
        <p:spPr>
          <a:xfrm>
            <a:off x="0" y="450850"/>
            <a:ext cx="12192000" cy="758825"/>
          </a:xfrm>
          <a:prstGeom prst="rect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txBody>
          <a:bodyPr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ru-RU" sz="4000" dirty="0">
                <a:solidFill>
                  <a:schemeClr val="bg1"/>
                </a:solidFill>
                <a:latin typeface="Corbel (Заголовки)"/>
              </a:rPr>
              <a:t>Программные модули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10FA64B7-6D3B-4A8C-A63B-C11BAEE775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116" y="1346453"/>
            <a:ext cx="4468339" cy="2692267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146543F5-837B-4A20-A147-1AB254D12A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4042" y="4145758"/>
            <a:ext cx="3329885" cy="2652958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E8A23D3A-3C4A-4E13-94A9-DB57F286392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92775" y="1385762"/>
            <a:ext cx="4405593" cy="2652959"/>
          </a:xfrm>
          <a:prstGeom prst="rect">
            <a:avLst/>
          </a:prstGeom>
        </p:spPr>
      </p:pic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DF3024C6-E8D2-43F8-8380-447DD7115A0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31924" y="4145758"/>
            <a:ext cx="3063648" cy="2652958"/>
          </a:xfrm>
          <a:prstGeom prst="rect">
            <a:avLst/>
          </a:prstGeom>
        </p:spPr>
      </p:pic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44BF6698-C8A4-4B55-99A0-678B8D01EA6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78073" y="4145758"/>
            <a:ext cx="4465381" cy="26529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097794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 txBox="1">
            <a:spLocks/>
          </p:cNvSpPr>
          <p:nvPr/>
        </p:nvSpPr>
        <p:spPr>
          <a:xfrm>
            <a:off x="0" y="450850"/>
            <a:ext cx="12192000" cy="758825"/>
          </a:xfrm>
          <a:prstGeom prst="rect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txBody>
          <a:bodyPr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ru-RU" sz="4000" dirty="0">
                <a:solidFill>
                  <a:schemeClr val="bg1"/>
                </a:solidFill>
                <a:latin typeface="Corbel (Заголовки)"/>
              </a:rPr>
              <a:t>Программные модули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3DD1E4B1-5CFF-4A5B-B54F-4E2686334C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58" y="1297577"/>
            <a:ext cx="4392684" cy="2751909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01377C20-FF7A-49CB-BC2A-70CA7B0C5C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96860" y="1297576"/>
            <a:ext cx="4392684" cy="2751909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5EE6D021-96B8-46D0-89F4-CEFA50F913E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458" y="4137387"/>
            <a:ext cx="4392684" cy="2629173"/>
          </a:xfrm>
          <a:prstGeom prst="rect">
            <a:avLst/>
          </a:prstGeom>
        </p:spPr>
      </p:pic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4064C409-2AD4-4D3B-8ADC-E65254F7D5A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98126" y="1297576"/>
            <a:ext cx="2999849" cy="1862819"/>
          </a:xfrm>
          <a:prstGeom prst="rect">
            <a:avLst/>
          </a:prstGeom>
        </p:spPr>
      </p:pic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3DE2382A-57E1-4CE7-812F-B6E1871E6CE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97011" y="4935814"/>
            <a:ext cx="2999849" cy="1862819"/>
          </a:xfrm>
          <a:prstGeom prst="rect">
            <a:avLst/>
          </a:prstGeom>
        </p:spPr>
      </p:pic>
      <p:pic>
        <p:nvPicPr>
          <p:cNvPr id="17" name="Рисунок 16">
            <a:extLst>
              <a:ext uri="{FF2B5EF4-FFF2-40B4-BE49-F238E27FC236}">
                <a16:creationId xmlns:a16="http://schemas.microsoft.com/office/drawing/2014/main" id="{A1540F56-5314-4ADC-9ECF-931440B69D2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89693" y="4137386"/>
            <a:ext cx="2999849" cy="1950721"/>
          </a:xfrm>
          <a:prstGeom prst="rect">
            <a:avLst/>
          </a:prstGeom>
        </p:spPr>
      </p:pic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805C2D8D-2F24-4CFE-8820-C14C0FBAB51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697011" y="3248296"/>
            <a:ext cx="2651504" cy="15996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135760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 txBox="1">
            <a:spLocks/>
          </p:cNvSpPr>
          <p:nvPr/>
        </p:nvSpPr>
        <p:spPr>
          <a:xfrm>
            <a:off x="0" y="450850"/>
            <a:ext cx="12192000" cy="758825"/>
          </a:xfrm>
          <a:prstGeom prst="rect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txBody>
          <a:bodyPr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ru-RU" sz="4000" dirty="0">
                <a:solidFill>
                  <a:schemeClr val="bg1"/>
                </a:solidFill>
                <a:latin typeface="Corbel (Заголовки)"/>
              </a:rPr>
              <a:t>Программные модули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D108DAF5-6AED-4605-AB20-F365F2F168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4753" y="1539849"/>
            <a:ext cx="5209514" cy="3263632"/>
          </a:xfrm>
          <a:prstGeom prst="rect">
            <a:avLst/>
          </a:prstGeom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C679C76F-BD2F-4B4F-A2EA-E30565679B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4690" y="1782024"/>
            <a:ext cx="2185095" cy="3293951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798751B9-913C-485B-951F-1B68504A40A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4330" y="1782024"/>
            <a:ext cx="2185097" cy="32939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77931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4ED72BA3-3F10-44F1-8391-4A0AFF340B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4213" y="4311559"/>
            <a:ext cx="3872566" cy="2471309"/>
          </a:xfrm>
          <a:prstGeom prst="rect">
            <a:avLst/>
          </a:prstGeom>
        </p:spPr>
      </p:pic>
      <p:sp>
        <p:nvSpPr>
          <p:cNvPr id="2" name="Заголовок 1"/>
          <p:cNvSpPr txBox="1">
            <a:spLocks/>
          </p:cNvSpPr>
          <p:nvPr/>
        </p:nvSpPr>
        <p:spPr>
          <a:xfrm>
            <a:off x="0" y="450850"/>
            <a:ext cx="12192000" cy="758825"/>
          </a:xfrm>
          <a:prstGeom prst="rect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txBody>
          <a:bodyPr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ru-RU" sz="4000" dirty="0">
                <a:solidFill>
                  <a:schemeClr val="bg1"/>
                </a:solidFill>
                <a:latin typeface="Corbel (Заголовки)"/>
              </a:rPr>
              <a:t>Программные модули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BA5CCC66-95B5-471F-A783-80033A5133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87" y="3309257"/>
            <a:ext cx="5544687" cy="3473611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EC2E8B73-17CE-46D9-A6E9-F45DE975A2F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77231" y="1280159"/>
            <a:ext cx="4077582" cy="2960916"/>
          </a:xfrm>
          <a:prstGeom prst="rect">
            <a:avLst/>
          </a:prstGeom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29252EA5-699F-4661-8B73-52492020545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41424" y="1280160"/>
            <a:ext cx="2176257" cy="24029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4972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 txBox="1">
            <a:spLocks/>
          </p:cNvSpPr>
          <p:nvPr/>
        </p:nvSpPr>
        <p:spPr>
          <a:xfrm>
            <a:off x="0" y="450850"/>
            <a:ext cx="12192000" cy="758825"/>
          </a:xfrm>
          <a:prstGeom prst="rect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txBody>
          <a:bodyPr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ru-RU" sz="4000" dirty="0">
                <a:solidFill>
                  <a:schemeClr val="bg1"/>
                </a:solidFill>
                <a:latin typeface="Corbel (Заголовки)"/>
              </a:rPr>
              <a:t>Программные модули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C24E7213-9041-46D7-A86A-5127706002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754" y="1314994"/>
            <a:ext cx="4086863" cy="2560320"/>
          </a:xfrm>
          <a:prstGeom prst="rect">
            <a:avLst/>
          </a:prstGeom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9B14C8C3-E54D-49D7-8E15-FDAC8585ED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6755" y="3923210"/>
            <a:ext cx="4086862" cy="2896553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B98D4F14-6EC5-4A43-B1E1-5F908AEADAB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59275" y="1314994"/>
            <a:ext cx="5198935" cy="32570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732640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 txBox="1">
            <a:spLocks/>
          </p:cNvSpPr>
          <p:nvPr/>
        </p:nvSpPr>
        <p:spPr>
          <a:xfrm>
            <a:off x="0" y="450850"/>
            <a:ext cx="12192000" cy="758825"/>
          </a:xfrm>
          <a:prstGeom prst="rect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txBody>
          <a:bodyPr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ru-RU" sz="4000" dirty="0">
                <a:solidFill>
                  <a:schemeClr val="bg1"/>
                </a:solidFill>
                <a:latin typeface="Corbel (Заголовки)"/>
              </a:rPr>
              <a:t>Программные модули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D2BB8B52-012E-47CE-B1C1-BD210B29C5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40588" y="1383526"/>
            <a:ext cx="5999580" cy="2427372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46D71341-F9C2-431A-B46E-1FC2C660B5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40588" y="3810898"/>
            <a:ext cx="4876647" cy="2985102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0AA446A8-66FE-49AC-9D81-C6BA8E151A7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7038" y="1367246"/>
            <a:ext cx="2897241" cy="54450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135760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1"/>
          <p:cNvSpPr txBox="1">
            <a:spLocks/>
          </p:cNvSpPr>
          <p:nvPr/>
        </p:nvSpPr>
        <p:spPr>
          <a:xfrm>
            <a:off x="0" y="450850"/>
            <a:ext cx="12192000" cy="758825"/>
          </a:xfrm>
          <a:prstGeom prst="rect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txBody>
          <a:bodyPr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ru-RU" sz="4000" dirty="0">
                <a:solidFill>
                  <a:schemeClr val="bg1"/>
                </a:solidFill>
                <a:latin typeface="Corbel (Заголовки)"/>
              </a:rPr>
              <a:t>Применяемые меры защиты</a:t>
            </a:r>
          </a:p>
        </p:txBody>
      </p:sp>
      <p:sp>
        <p:nvSpPr>
          <p:cNvPr id="4" name="Прямоугольник 3"/>
          <p:cNvSpPr/>
          <p:nvPr/>
        </p:nvSpPr>
        <p:spPr>
          <a:xfrm>
            <a:off x="4010022" y="2512843"/>
            <a:ext cx="3333750" cy="369332"/>
          </a:xfrm>
          <a:prstGeom prst="rect">
            <a:avLst/>
          </a:prstGeom>
        </p:spPr>
        <p:txBody>
          <a:bodyPr wrap="square" anchor="ctr">
            <a:spAutoFit/>
          </a:bodyPr>
          <a:lstStyle/>
          <a:p>
            <a:pPr algn="ctr"/>
            <a:r>
              <a:rPr lang="ru-RU" dirty="0">
                <a:solidFill>
                  <a:srgbClr val="000000"/>
                </a:solidFill>
                <a:latin typeface="Times New Roman" panose="02020603050405020304" pitchFamily="18" charset="0"/>
              </a:rPr>
              <a:t>Скрытие персональных данных</a:t>
            </a:r>
            <a:endParaRPr lang="ru-RU" dirty="0"/>
          </a:p>
        </p:txBody>
      </p:sp>
      <p:sp>
        <p:nvSpPr>
          <p:cNvPr id="5" name="Прямоугольник 4"/>
          <p:cNvSpPr/>
          <p:nvPr/>
        </p:nvSpPr>
        <p:spPr>
          <a:xfrm>
            <a:off x="253943" y="2459570"/>
            <a:ext cx="2979855" cy="646331"/>
          </a:xfrm>
          <a:prstGeom prst="rect">
            <a:avLst/>
          </a:prstGeom>
        </p:spPr>
        <p:txBody>
          <a:bodyPr wrap="none" anchor="ctr">
            <a:spAutoFit/>
          </a:bodyPr>
          <a:lstStyle/>
          <a:p>
            <a:pPr lvl="0" algn="ctr">
              <a:spcAft>
                <a:spcPts val="0"/>
              </a:spcAft>
              <a:tabLst>
                <a:tab pos="450215" algn="l"/>
                <a:tab pos="900430" algn="l"/>
                <a:tab pos="990600" algn="l"/>
              </a:tabLst>
            </a:pPr>
            <a:r>
              <a:rPr lang="ru-RU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</a:rPr>
              <a:t>Разграничение прав доступа</a:t>
            </a:r>
            <a:br>
              <a:rPr lang="ru-RU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</a:rPr>
            </a:br>
            <a:r>
              <a:rPr lang="ru-RU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</a:rPr>
              <a:t>с помощью авторизации</a:t>
            </a:r>
            <a:endParaRPr lang="ru-RU" sz="11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6" name="Прямоугольник 5"/>
          <p:cNvSpPr/>
          <p:nvPr/>
        </p:nvSpPr>
        <p:spPr>
          <a:xfrm>
            <a:off x="8090829" y="2520925"/>
            <a:ext cx="3847228" cy="646331"/>
          </a:xfrm>
          <a:prstGeom prst="rect">
            <a:avLst/>
          </a:prstGeom>
        </p:spPr>
        <p:txBody>
          <a:bodyPr wrap="square" anchor="ctr">
            <a:spAutoFit/>
          </a:bodyPr>
          <a:lstStyle/>
          <a:p>
            <a:pPr algn="ctr"/>
            <a:r>
              <a:rPr lang="ru-RU" dirty="0">
                <a:solidFill>
                  <a:srgbClr val="000000"/>
                </a:solidFill>
                <a:latin typeface="Times New Roman" panose="02020603050405020304" pitchFamily="18" charset="0"/>
              </a:rPr>
              <a:t>Авторизованный пользователь не может удалить сам себя</a:t>
            </a:r>
            <a:endParaRPr lang="ru-RU" dirty="0"/>
          </a:p>
        </p:txBody>
      </p:sp>
      <p:sp>
        <p:nvSpPr>
          <p:cNvPr id="7" name="Прямоугольник 6"/>
          <p:cNvSpPr/>
          <p:nvPr/>
        </p:nvSpPr>
        <p:spPr>
          <a:xfrm>
            <a:off x="3921315" y="4711125"/>
            <a:ext cx="3511167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ctr">
              <a:spcAft>
                <a:spcPts val="0"/>
              </a:spcAft>
              <a:tabLst>
                <a:tab pos="450215" algn="l"/>
                <a:tab pos="900430" algn="l"/>
                <a:tab pos="990600" algn="l"/>
              </a:tabLst>
            </a:pPr>
            <a:r>
              <a:rPr lang="ru-RU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</a:rPr>
              <a:t>Удаление записи у которых есть связи невозможно</a:t>
            </a:r>
            <a:endParaRPr lang="ru-RU" sz="11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8" name="Прямоугольник 7"/>
          <p:cNvSpPr/>
          <p:nvPr/>
        </p:nvSpPr>
        <p:spPr>
          <a:xfrm>
            <a:off x="4054981" y="3668708"/>
            <a:ext cx="324383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ru-RU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</a:rPr>
              <a:t>Скрытие пароля при его вводе </a:t>
            </a:r>
            <a:endParaRPr lang="ru-RU" dirty="0"/>
          </a:p>
        </p:txBody>
      </p:sp>
      <p:sp>
        <p:nvSpPr>
          <p:cNvPr id="9" name="Прямоугольник 8"/>
          <p:cNvSpPr/>
          <p:nvPr/>
        </p:nvSpPr>
        <p:spPr>
          <a:xfrm>
            <a:off x="8444277" y="4678076"/>
            <a:ext cx="3140329" cy="646331"/>
          </a:xfrm>
          <a:prstGeom prst="rect">
            <a:avLst/>
          </a:prstGeom>
        </p:spPr>
        <p:txBody>
          <a:bodyPr wrap="square" anchor="ctr">
            <a:spAutoFit/>
          </a:bodyPr>
          <a:lstStyle/>
          <a:p>
            <a:pPr algn="ctr"/>
            <a:r>
              <a:rPr lang="ru-RU" dirty="0">
                <a:latin typeface="Times New Roman" panose="02020603050405020304" pitchFamily="18" charset="0"/>
                <a:ea typeface="Times New Roman" panose="02020603050405020304" pitchFamily="18" charset="0"/>
              </a:rPr>
              <a:t>Удаление записей только после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ru-RU" dirty="0">
                <a:latin typeface="Times New Roman" panose="02020603050405020304" pitchFamily="18" charset="0"/>
                <a:ea typeface="Times New Roman" panose="02020603050405020304" pitchFamily="18" charset="0"/>
              </a:rPr>
              <a:t>подтверждения </a:t>
            </a:r>
            <a:endParaRPr lang="ru-RU" dirty="0"/>
          </a:p>
        </p:txBody>
      </p:sp>
      <p:pic>
        <p:nvPicPr>
          <p:cNvPr id="24" name="Рисунок 23">
            <a:extLst>
              <a:ext uri="{FF2B5EF4-FFF2-40B4-BE49-F238E27FC236}">
                <a16:creationId xmlns:a16="http://schemas.microsoft.com/office/drawing/2014/main" id="{26D9F968-EB95-47B4-BC75-CC7B8E58711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0305" y="3148891"/>
            <a:ext cx="3368275" cy="1418221"/>
          </a:xfrm>
          <a:prstGeom prst="rect">
            <a:avLst/>
          </a:prstGeom>
        </p:spPr>
      </p:pic>
      <p:pic>
        <p:nvPicPr>
          <p:cNvPr id="26" name="Рисунок 25">
            <a:extLst>
              <a:ext uri="{FF2B5EF4-FFF2-40B4-BE49-F238E27FC236}">
                <a16:creationId xmlns:a16="http://schemas.microsoft.com/office/drawing/2014/main" id="{4B4FBE4D-8293-4609-9C22-993EF7725B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88146" y="5324407"/>
            <a:ext cx="3377503" cy="1376355"/>
          </a:xfrm>
          <a:prstGeom prst="rect">
            <a:avLst/>
          </a:prstGeom>
        </p:spPr>
      </p:pic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60DEC7E2-3935-48CF-9554-B164967DDAA9}"/>
              </a:ext>
            </a:extLst>
          </p:cNvPr>
          <p:cNvSpPr/>
          <p:nvPr/>
        </p:nvSpPr>
        <p:spPr>
          <a:xfrm>
            <a:off x="156753" y="1283864"/>
            <a:ext cx="11731353" cy="117570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indent="540000" algn="just">
              <a:lnSpc>
                <a:spcPct val="120000"/>
              </a:lnSpc>
            </a:pPr>
            <a:r>
              <a:rPr lang="ru-RU" sz="2000" dirty="0">
                <a:effectLst/>
              </a:rPr>
              <a:t>Защита данных </a:t>
            </a:r>
            <a:r>
              <a:rPr lang="en-US" sz="2000" dirty="0">
                <a:effectLst/>
              </a:rPr>
              <a:t>– </a:t>
            </a:r>
            <a:r>
              <a:rPr lang="ru-RU" sz="2000" dirty="0">
                <a:effectLst/>
              </a:rPr>
              <a:t>это предотвращение несанкционированного доступа, изменения или удаления информации, а также защита данных при сбоях программных и аппаратных средств.</a:t>
            </a:r>
          </a:p>
          <a:p>
            <a:pPr indent="540000" algn="just">
              <a:lnSpc>
                <a:spcPct val="120000"/>
              </a:lnSpc>
            </a:pPr>
            <a:r>
              <a:rPr lang="ru-RU" sz="2000" dirty="0">
                <a:effectLst/>
              </a:rPr>
              <a:t>В разработанной АИС применяются следующие меры защиты информации:</a:t>
            </a:r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5BB08106-93E1-4F2E-9243-143F9593C53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6114" y="3118790"/>
            <a:ext cx="3235511" cy="2325633"/>
          </a:xfrm>
          <a:prstGeom prst="rect">
            <a:avLst/>
          </a:prstGeom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320124AA-6DE5-4AA9-9A9A-015724B11A4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26971" y="2904153"/>
            <a:ext cx="4604040" cy="686031"/>
          </a:xfrm>
          <a:prstGeom prst="rect">
            <a:avLst/>
          </a:prstGeom>
        </p:spPr>
      </p:pic>
      <p:pic>
        <p:nvPicPr>
          <p:cNvPr id="17" name="Рисунок 16">
            <a:extLst>
              <a:ext uri="{FF2B5EF4-FFF2-40B4-BE49-F238E27FC236}">
                <a16:creationId xmlns:a16="http://schemas.microsoft.com/office/drawing/2014/main" id="{6BADC123-67EF-48DF-AFE2-8B31D01302D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41752" y="4058865"/>
            <a:ext cx="3334215" cy="619211"/>
          </a:xfrm>
          <a:prstGeom prst="rect">
            <a:avLst/>
          </a:prstGeom>
        </p:spPr>
      </p:pic>
      <p:pic>
        <p:nvPicPr>
          <p:cNvPr id="20" name="Рисунок 19">
            <a:extLst>
              <a:ext uri="{FF2B5EF4-FFF2-40B4-BE49-F238E27FC236}">
                <a16:creationId xmlns:a16="http://schemas.microsoft.com/office/drawing/2014/main" id="{29DB95E1-CF40-4BE9-BC72-C0060C78F07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23517" y="5324407"/>
            <a:ext cx="3381847" cy="14480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816973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1"/>
          <p:cNvSpPr txBox="1">
            <a:spLocks/>
          </p:cNvSpPr>
          <p:nvPr/>
        </p:nvSpPr>
        <p:spPr>
          <a:xfrm>
            <a:off x="0" y="450850"/>
            <a:ext cx="12192000" cy="758825"/>
          </a:xfrm>
          <a:prstGeom prst="rect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txBody>
          <a:bodyPr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ru-RU" sz="4000" dirty="0">
                <a:solidFill>
                  <a:schemeClr val="bg1"/>
                </a:solidFill>
                <a:latin typeface="Corbel (Заголовки)"/>
              </a:rPr>
              <a:t>Применяемые меры защиты</a:t>
            </a:r>
          </a:p>
        </p:txBody>
      </p:sp>
      <p:sp>
        <p:nvSpPr>
          <p:cNvPr id="4" name="Прямоугольник 3"/>
          <p:cNvSpPr/>
          <p:nvPr/>
        </p:nvSpPr>
        <p:spPr>
          <a:xfrm>
            <a:off x="3198354" y="1296288"/>
            <a:ext cx="3333750" cy="369332"/>
          </a:xfrm>
          <a:prstGeom prst="rect">
            <a:avLst/>
          </a:prstGeom>
        </p:spPr>
        <p:txBody>
          <a:bodyPr wrap="square" anchor="ctr">
            <a:spAutoFit/>
          </a:bodyPr>
          <a:lstStyle/>
          <a:p>
            <a:pPr algn="ctr"/>
            <a:r>
              <a:rPr lang="ru-RU" dirty="0">
                <a:solidFill>
                  <a:srgbClr val="000000"/>
                </a:solidFill>
                <a:latin typeface="Times New Roman" panose="02020603050405020304" pitchFamily="18" charset="0"/>
              </a:rPr>
              <a:t>Парольная защита базы данных</a:t>
            </a:r>
            <a:endParaRPr lang="ru-RU" dirty="0"/>
          </a:p>
        </p:txBody>
      </p:sp>
      <p:sp>
        <p:nvSpPr>
          <p:cNvPr id="5" name="Прямоугольник 4"/>
          <p:cNvSpPr/>
          <p:nvPr/>
        </p:nvSpPr>
        <p:spPr>
          <a:xfrm>
            <a:off x="1114853" y="1209675"/>
            <a:ext cx="1261884" cy="458074"/>
          </a:xfrm>
          <a:prstGeom prst="rect">
            <a:avLst/>
          </a:prstGeom>
        </p:spPr>
        <p:txBody>
          <a:bodyPr wrap="none" anchor="ctr">
            <a:spAutoFit/>
          </a:bodyPr>
          <a:lstStyle/>
          <a:p>
            <a:pPr lvl="0" algn="ctr">
              <a:lnSpc>
                <a:spcPct val="150000"/>
              </a:lnSpc>
              <a:spcAft>
                <a:spcPts val="0"/>
              </a:spcAft>
              <a:tabLst>
                <a:tab pos="450215" algn="l"/>
                <a:tab pos="900430" algn="l"/>
                <a:tab pos="990600" algn="l"/>
              </a:tabLst>
            </a:pPr>
            <a:r>
              <a:rPr lang="en-US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</a:rPr>
              <a:t>CAPTCHA</a:t>
            </a:r>
            <a:endParaRPr lang="ru-RU" sz="11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6" name="Прямоугольник 5"/>
          <p:cNvSpPr/>
          <p:nvPr/>
        </p:nvSpPr>
        <p:spPr>
          <a:xfrm>
            <a:off x="-56250" y="3862964"/>
            <a:ext cx="3847228" cy="646331"/>
          </a:xfrm>
          <a:prstGeom prst="rect">
            <a:avLst/>
          </a:prstGeom>
        </p:spPr>
        <p:txBody>
          <a:bodyPr wrap="square" anchor="ctr">
            <a:spAutoFit/>
          </a:bodyPr>
          <a:lstStyle/>
          <a:p>
            <a:pPr algn="ctr"/>
            <a:r>
              <a:rPr lang="ru-RU" dirty="0">
                <a:solidFill>
                  <a:srgbClr val="000000"/>
                </a:solidFill>
                <a:latin typeface="Times New Roman" panose="02020603050405020304" pitchFamily="18" charset="0"/>
              </a:rPr>
              <a:t>Резервное копирование и восстановление базы данных</a:t>
            </a:r>
            <a:endParaRPr lang="ru-RU" dirty="0"/>
          </a:p>
        </p:txBody>
      </p:sp>
      <p:sp>
        <p:nvSpPr>
          <p:cNvPr id="8" name="Прямоугольник 7"/>
          <p:cNvSpPr/>
          <p:nvPr/>
        </p:nvSpPr>
        <p:spPr>
          <a:xfrm>
            <a:off x="6629677" y="4232366"/>
            <a:ext cx="401725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ru-RU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</a:rPr>
              <a:t>Подтверждение выхода из приложения</a:t>
            </a:r>
            <a:endParaRPr lang="ru-RU" dirty="0"/>
          </a:p>
        </p:txBody>
      </p:sp>
      <p:sp>
        <p:nvSpPr>
          <p:cNvPr id="9" name="Прямоугольник 8"/>
          <p:cNvSpPr/>
          <p:nvPr/>
        </p:nvSpPr>
        <p:spPr>
          <a:xfrm>
            <a:off x="6822288" y="1296288"/>
            <a:ext cx="3433383" cy="369332"/>
          </a:xfrm>
          <a:prstGeom prst="rect">
            <a:avLst/>
          </a:prstGeom>
        </p:spPr>
        <p:txBody>
          <a:bodyPr wrap="square" anchor="ctr">
            <a:spAutoFit/>
          </a:bodyPr>
          <a:lstStyle/>
          <a:p>
            <a:pPr algn="ctr"/>
            <a:r>
              <a:rPr lang="ru-RU" dirty="0">
                <a:latin typeface="Times New Roman" panose="02020603050405020304" pitchFamily="18" charset="0"/>
              </a:rPr>
              <a:t>Контроль вводимой информации</a:t>
            </a:r>
            <a:endParaRPr lang="ru-RU" dirty="0"/>
          </a:p>
        </p:txBody>
      </p:sp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ED30AA15-F178-4671-8FE1-F880C73296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2499" y="1665620"/>
            <a:ext cx="2886592" cy="2179883"/>
          </a:xfrm>
          <a:prstGeom prst="rect">
            <a:avLst/>
          </a:prstGeom>
        </p:spPr>
      </p:pic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A609E437-69E5-49D6-831E-352F2AAA29A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02171" y="1665620"/>
            <a:ext cx="2326116" cy="3946974"/>
          </a:xfrm>
          <a:prstGeom prst="rect">
            <a:avLst/>
          </a:prstGeom>
        </p:spPr>
      </p:pic>
      <p:pic>
        <p:nvPicPr>
          <p:cNvPr id="18" name="Рисунок 17">
            <a:extLst>
              <a:ext uri="{FF2B5EF4-FFF2-40B4-BE49-F238E27FC236}">
                <a16:creationId xmlns:a16="http://schemas.microsoft.com/office/drawing/2014/main" id="{AD2BB2FC-0BEC-4708-B15B-191F24636E5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2741" y="4473972"/>
            <a:ext cx="3089246" cy="2348705"/>
          </a:xfrm>
          <a:prstGeom prst="rect">
            <a:avLst/>
          </a:prstGeom>
        </p:spPr>
      </p:pic>
      <p:pic>
        <p:nvPicPr>
          <p:cNvPr id="23" name="Рисунок 22">
            <a:extLst>
              <a:ext uri="{FF2B5EF4-FFF2-40B4-BE49-F238E27FC236}">
                <a16:creationId xmlns:a16="http://schemas.microsoft.com/office/drawing/2014/main" id="{D4EE2ECB-77B1-42E1-8F7B-9512C96BE738}"/>
              </a:ext>
            </a:extLst>
          </p:cNvPr>
          <p:cNvPicPr/>
          <p:nvPr/>
        </p:nvPicPr>
        <p:blipFill>
          <a:blip r:embed="rId5"/>
          <a:stretch>
            <a:fillRect/>
          </a:stretch>
        </p:blipFill>
        <p:spPr>
          <a:xfrm>
            <a:off x="7003992" y="1665620"/>
            <a:ext cx="3069974" cy="2584163"/>
          </a:xfrm>
          <a:prstGeom prst="rect">
            <a:avLst/>
          </a:prstGeom>
        </p:spPr>
      </p:pic>
      <p:pic>
        <p:nvPicPr>
          <p:cNvPr id="22" name="Рисунок 21">
            <a:extLst>
              <a:ext uri="{FF2B5EF4-FFF2-40B4-BE49-F238E27FC236}">
                <a16:creationId xmlns:a16="http://schemas.microsoft.com/office/drawing/2014/main" id="{79DD2F45-61E8-425A-AD52-BD0C0CAE9EA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33091" y="4619115"/>
            <a:ext cx="3410426" cy="14480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683992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1"/>
          <p:cNvSpPr txBox="1">
            <a:spLocks/>
          </p:cNvSpPr>
          <p:nvPr/>
        </p:nvSpPr>
        <p:spPr>
          <a:xfrm>
            <a:off x="0" y="450850"/>
            <a:ext cx="12192000" cy="758825"/>
          </a:xfrm>
          <a:prstGeom prst="rect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txBody>
          <a:bodyPr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ru-RU" sz="4000" dirty="0">
                <a:solidFill>
                  <a:schemeClr val="bg1"/>
                </a:solidFill>
                <a:latin typeface="Corbel (Заголовки)"/>
              </a:rPr>
              <a:t>Обоснование экономической эффективности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97AB7B6-453D-4398-9828-8BD2387ED0C3}"/>
              </a:ext>
            </a:extLst>
          </p:cNvPr>
          <p:cNvSpPr txBox="1"/>
          <p:nvPr/>
        </p:nvSpPr>
        <p:spPr>
          <a:xfrm>
            <a:off x="757647" y="1073275"/>
            <a:ext cx="10894423" cy="596939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indent="540000" algn="just">
              <a:lnSpc>
                <a:spcPct val="120000"/>
              </a:lnSpc>
            </a:pPr>
            <a:r>
              <a:rPr lang="ru-RU" sz="20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В качестве аналогов были рассмотрены Битрикс24, </a:t>
            </a:r>
            <a:r>
              <a:rPr lang="ru-RU" sz="2000" dirty="0" err="1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amoCRM</a:t>
            </a:r>
            <a:r>
              <a:rPr lang="ru-RU" sz="20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, 1С:Управление нашей фирмой, </a:t>
            </a:r>
            <a:r>
              <a:rPr lang="ru-RU" sz="2000" dirty="0" err="1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Trello</a:t>
            </a:r>
            <a:r>
              <a:rPr lang="ru-RU" sz="20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и </a:t>
            </a:r>
            <a:r>
              <a:rPr lang="ru-RU" sz="2000" dirty="0" err="1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Asana</a:t>
            </a:r>
            <a:r>
              <a:rPr lang="ru-RU" sz="20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. Большинство аналогов имеют высокую стоимость</a:t>
            </a:r>
            <a:r>
              <a:rPr lang="en-US" sz="20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приобретения или подписку</a:t>
            </a:r>
            <a:r>
              <a:rPr lang="ru-RU" sz="20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, зависят от интернет-соединения и сторонних серверов, избыточный функционал и отсутствие расчета стоимости заказов, скидок и надбавок.</a:t>
            </a:r>
          </a:p>
          <a:p>
            <a:pPr indent="540000" algn="just">
              <a:lnSpc>
                <a:spcPct val="120000"/>
              </a:lnSpc>
            </a:pPr>
            <a:r>
              <a:rPr lang="ru-RU" sz="20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Преимущества разработанной АИС:</a:t>
            </a:r>
            <a:endParaRPr lang="en-US" sz="2000" dirty="0"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540000" algn="just" defTabSz="914400" rtl="0" eaLnBrk="0" fontAlgn="base" latinLnBrk="0" hangingPunct="0">
              <a:lnSpc>
                <a:spcPct val="120000"/>
              </a:lnSpc>
              <a:buClrTx/>
              <a:buSzTx/>
              <a:tabLst/>
            </a:pPr>
            <a:r>
              <a:rPr lang="en-US" alt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</a:t>
            </a:r>
            <a:r>
              <a:rPr lang="ru-RU" alt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простой интерфейс, адаптированный под разработку web-сайтов;</a:t>
            </a:r>
          </a:p>
          <a:p>
            <a:pPr marL="0" marR="0" lvl="0" indent="540000" algn="just" defTabSz="914400" rtl="0" eaLnBrk="0" fontAlgn="base" latinLnBrk="0" hangingPunct="0">
              <a:lnSpc>
                <a:spcPct val="120000"/>
              </a:lnSpc>
              <a:buClrTx/>
              <a:buSzTx/>
              <a:tabLst/>
            </a:pPr>
            <a:r>
              <a:rPr lang="en-US" alt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</a:t>
            </a:r>
            <a:r>
              <a:rPr lang="ru-RU" alt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разграничение прав доступа для администратора, менеджера и директора;</a:t>
            </a:r>
          </a:p>
          <a:p>
            <a:pPr marL="0" marR="0" lvl="0" indent="540000" algn="just" defTabSz="914400" rtl="0" eaLnBrk="0" fontAlgn="base" latinLnBrk="0" hangingPunct="0">
              <a:lnSpc>
                <a:spcPct val="120000"/>
              </a:lnSpc>
              <a:buClrTx/>
              <a:buSzTx/>
              <a:tabLst/>
            </a:pPr>
            <a:r>
              <a:rPr lang="en-US" alt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</a:t>
            </a:r>
            <a:r>
              <a:rPr lang="ru-RU" alt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автоматический расчёт стоимости заказа;</a:t>
            </a:r>
          </a:p>
          <a:p>
            <a:pPr marL="0" marR="0" lvl="0" indent="540000" algn="just" defTabSz="914400" rtl="0" eaLnBrk="0" fontAlgn="base" latinLnBrk="0" hangingPunct="0">
              <a:lnSpc>
                <a:spcPct val="120000"/>
              </a:lnSpc>
              <a:buClrTx/>
              <a:buSzTx/>
              <a:tabLst/>
            </a:pPr>
            <a:r>
              <a:rPr lang="en-US" alt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</a:t>
            </a:r>
            <a:r>
              <a:rPr lang="ru-RU" alt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формирование чеков и отчётов в MS Word, MS Excel или PDF;</a:t>
            </a:r>
          </a:p>
          <a:p>
            <a:pPr marL="0" marR="0" lvl="0" indent="540000" algn="just" defTabSz="914400" rtl="0" eaLnBrk="0" fontAlgn="base" latinLnBrk="0" hangingPunct="0">
              <a:lnSpc>
                <a:spcPct val="120000"/>
              </a:lnSpc>
              <a:buClrTx/>
              <a:buSzTx/>
              <a:tabLst/>
            </a:pPr>
            <a:r>
              <a:rPr lang="en-US" alt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</a:t>
            </a:r>
            <a:r>
              <a:rPr lang="ru-RU" alt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резервное копирование и защита информации;</a:t>
            </a:r>
          </a:p>
          <a:p>
            <a:pPr marL="0" marR="0" lvl="0" indent="540000" algn="just" defTabSz="914400" rtl="0" eaLnBrk="0" fontAlgn="base" latinLnBrk="0" hangingPunct="0">
              <a:lnSpc>
                <a:spcPct val="120000"/>
              </a:lnSpc>
              <a:buClrTx/>
              <a:buSzTx/>
              <a:tabLst/>
            </a:pPr>
            <a:r>
              <a:rPr lang="en-US" alt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</a:t>
            </a:r>
            <a:r>
              <a:rPr lang="ru-RU" alt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автономная работа без зависимости от сторонних сервисов.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20000"/>
              </a:lnSpc>
            </a:pPr>
            <a:r>
              <a:rPr lang="ru-RU" sz="2000" b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Цена разработки </a:t>
            </a:r>
            <a:r>
              <a:rPr lang="ru-RU" sz="20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– 27 433,12 руб.</a:t>
            </a:r>
          </a:p>
          <a:p>
            <a:pPr>
              <a:lnSpc>
                <a:spcPct val="120000"/>
              </a:lnSpc>
            </a:pPr>
            <a:r>
              <a:rPr lang="ru-RU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Отпускная цена одной копии </a:t>
            </a:r>
            <a:r>
              <a:rPr lang="ru-RU" sz="20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–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200 руб.</a:t>
            </a:r>
            <a:br>
              <a:rPr lang="ru-RU" sz="20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sz="2000" b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Прогнозируемая выручка </a:t>
            </a:r>
            <a:r>
              <a:rPr lang="ru-RU" sz="20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– 35 400 руб./год.</a:t>
            </a:r>
            <a:br>
              <a:rPr lang="ru-RU" sz="20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sz="2000" b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Срок окупаемости </a:t>
            </a:r>
            <a:r>
              <a:rPr lang="ru-RU" sz="20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– около 11 месяцев.</a:t>
            </a:r>
          </a:p>
          <a:p>
            <a:pPr indent="540000" algn="just">
              <a:lnSpc>
                <a:spcPct val="120000"/>
              </a:lnSpc>
            </a:pP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985988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/>
          <p:cNvSpPr/>
          <p:nvPr/>
        </p:nvSpPr>
        <p:spPr>
          <a:xfrm>
            <a:off x="742950" y="1257941"/>
            <a:ext cx="10987496" cy="5600059"/>
          </a:xfrm>
          <a:prstGeom prst="rect">
            <a:avLst/>
          </a:prstGeom>
        </p:spPr>
        <p:txBody>
          <a:bodyPr wrap="square" anchor="ctr">
            <a:spAutoFit/>
          </a:bodyPr>
          <a:lstStyle/>
          <a:p>
            <a:pPr indent="540000">
              <a:lnSpc>
                <a:spcPct val="120000"/>
              </a:lnSpc>
            </a:pPr>
            <a:r>
              <a:rPr lang="ru-RU" sz="20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В ходе выполнения выпускной квалификационной работы была разработана автоматизированная информационная система по ведению базы данных разработки web-сайтов на базе платформы .NET.</a:t>
            </a:r>
          </a:p>
          <a:p>
            <a:pPr indent="540000">
              <a:lnSpc>
                <a:spcPct val="120000"/>
              </a:lnSpc>
            </a:pPr>
            <a:r>
              <a:rPr lang="ru-RU" sz="2000" dirty="0">
                <a:latin typeface="Times New Roman" panose="02020603050405020304" pitchFamily="18" charset="0"/>
              </a:rPr>
              <a:t>В процессе написания программного кода использовался высокоуровневый язык программирования </a:t>
            </a:r>
            <a:r>
              <a:rPr lang="en-US" sz="2000" dirty="0">
                <a:latin typeface="Times New Roman" panose="02020603050405020304" pitchFamily="18" charset="0"/>
              </a:rPr>
              <a:t>C#</a:t>
            </a:r>
            <a:r>
              <a:rPr lang="ru-RU" sz="2000" dirty="0">
                <a:latin typeface="Times New Roman" panose="02020603050405020304" pitchFamily="18" charset="0"/>
              </a:rPr>
              <a:t>. Были улучшены навыки по работе с платформой .NET. </a:t>
            </a:r>
            <a:endParaRPr lang="ru-RU" sz="2000" dirty="0"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indent="540000">
              <a:lnSpc>
                <a:spcPct val="120000"/>
              </a:lnSpc>
            </a:pPr>
            <a:r>
              <a:rPr lang="ru-RU" sz="20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Разработанная система полностью соответствует поставленным задачам и позволяет автоматизировать учёт клиентов, услуг и заказов, оформление заказов, расчёт стоимости, контроль сроков выполнения, формирование чеков и отчётов.</a:t>
            </a:r>
          </a:p>
          <a:p>
            <a:pPr indent="540000">
              <a:lnSpc>
                <a:spcPct val="120000"/>
              </a:lnSpc>
            </a:pPr>
            <a:r>
              <a:rPr lang="ru-RU" sz="20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В программе реализовано разграничение прав доступа для трёх ролей, поиск, сортировка и фильтрация данных, резервное копирование и восстановление базы данных, импорт и экспорт данных, CAPTCHA при авторизации, пагинация, защита персональных данных и автоматическая блокировка системы при отсутствии активности пользователя.</a:t>
            </a:r>
          </a:p>
          <a:p>
            <a:pPr indent="540000">
              <a:lnSpc>
                <a:spcPct val="120000"/>
              </a:lnSpc>
            </a:pPr>
            <a:r>
              <a:rPr lang="ru-RU" sz="20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В дальнейшем программный продукт может быть усовершенствован путём доработки интерфейса, расширения функционала отчётов и адаптации системы под требования конкретных организаций, занимающихся разработкой web-сайтов.</a:t>
            </a:r>
          </a:p>
        </p:txBody>
      </p:sp>
      <p:sp>
        <p:nvSpPr>
          <p:cNvPr id="3" name="Заголовок 1"/>
          <p:cNvSpPr txBox="1">
            <a:spLocks/>
          </p:cNvSpPr>
          <p:nvPr/>
        </p:nvSpPr>
        <p:spPr>
          <a:xfrm>
            <a:off x="0" y="450850"/>
            <a:ext cx="12192000" cy="758825"/>
          </a:xfrm>
          <a:prstGeom prst="rect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txBody>
          <a:bodyPr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ru-RU" sz="4000" dirty="0">
                <a:solidFill>
                  <a:schemeClr val="bg1"/>
                </a:solidFill>
                <a:latin typeface="Corbel (Заголовки)"/>
              </a:rPr>
              <a:t>Заключение</a:t>
            </a:r>
          </a:p>
        </p:txBody>
      </p:sp>
    </p:spTree>
    <p:extLst>
      <p:ext uri="{BB962C8B-B14F-4D97-AF65-F5344CB8AC3E}">
        <p14:creationId xmlns:p14="http://schemas.microsoft.com/office/powerpoint/2010/main" val="386849167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" y="2064183"/>
            <a:ext cx="12192000" cy="1540482"/>
          </a:xfrm>
          <a:solidFill>
            <a:srgbClr val="00B0F0"/>
          </a:solidFill>
          <a:ln>
            <a:solidFill>
              <a:srgbClr val="00B0F0"/>
            </a:solidFill>
          </a:ln>
        </p:spPr>
        <p:txBody>
          <a:bodyPr>
            <a:noAutofit/>
          </a:bodyPr>
          <a:lstStyle/>
          <a:p>
            <a:r>
              <a:rPr lang="ru-RU" sz="5400" cap="all" spc="150" dirty="0">
                <a:solidFill>
                  <a:schemeClr val="bg1">
                    <a:lumMod val="95000"/>
                  </a:schemeClr>
                </a:solidFill>
                <a:latin typeface="Corbel (Заголовки)"/>
              </a:rPr>
              <a:t>ВЫПУСКНАЯ</a:t>
            </a:r>
            <a:br>
              <a:rPr lang="en-US" sz="5400" cap="all" spc="150" dirty="0">
                <a:solidFill>
                  <a:schemeClr val="bg1">
                    <a:lumMod val="95000"/>
                  </a:schemeClr>
                </a:solidFill>
                <a:latin typeface="Corbel (Заголовки)"/>
              </a:rPr>
            </a:br>
            <a:r>
              <a:rPr lang="ru-RU" sz="5400" cap="all" spc="150" dirty="0">
                <a:solidFill>
                  <a:schemeClr val="bg1">
                    <a:lumMod val="95000"/>
                  </a:schemeClr>
                </a:solidFill>
                <a:latin typeface="Corbel (Заголовки)"/>
              </a:rPr>
              <a:t>КВАЛИФИКАЦИОННАЯ РАБОТА</a:t>
            </a: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2147454" y="3756280"/>
            <a:ext cx="7897091" cy="1175153"/>
          </a:xfrm>
        </p:spPr>
        <p:txBody>
          <a:bodyPr/>
          <a:lstStyle/>
          <a:p>
            <a:r>
              <a:rPr lang="ru-RU" b="1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Тема:</a:t>
            </a:r>
            <a:r>
              <a:rPr lang="ru-RU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Разработка автоматизированной информационной системы по ведению базы данных разработки web-сайтов на базе платформы .NET</a:t>
            </a:r>
          </a:p>
        </p:txBody>
      </p:sp>
      <p:sp>
        <p:nvSpPr>
          <p:cNvPr id="4" name="Прямоугольник 3"/>
          <p:cNvSpPr/>
          <p:nvPr/>
        </p:nvSpPr>
        <p:spPr>
          <a:xfrm>
            <a:off x="2761397" y="0"/>
            <a:ext cx="6669206" cy="1477328"/>
          </a:xfrm>
          <a:prstGeom prst="rect">
            <a:avLst/>
          </a:prstGeom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lang="ru-RU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</a:rPr>
              <a:t>Министерство образования Нижегородской области</a:t>
            </a:r>
            <a:endParaRPr lang="ru-RU" sz="1600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algn="ctr">
              <a:spcAft>
                <a:spcPts val="0"/>
              </a:spcAft>
            </a:pPr>
            <a:r>
              <a:rPr lang="ru-RU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</a:rPr>
              <a:t>Государственное бюджетное профессиональное </a:t>
            </a:r>
            <a:br>
              <a:rPr lang="ru-RU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</a:rPr>
            </a:br>
            <a:r>
              <a:rPr lang="ru-RU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</a:rPr>
              <a:t>образовательное учреждение</a:t>
            </a:r>
            <a:endParaRPr lang="ru-RU" sz="1600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algn="ctr">
              <a:spcAft>
                <a:spcPts val="0"/>
              </a:spcAft>
            </a:pPr>
            <a:r>
              <a:rPr lang="ru-RU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</a:rPr>
              <a:t> «Заволжский автомоторный техникум»</a:t>
            </a:r>
            <a:endParaRPr lang="ru-RU" sz="1600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algn="ctr">
              <a:spcAft>
                <a:spcPts val="0"/>
              </a:spcAft>
            </a:pPr>
            <a:r>
              <a:rPr lang="ru-RU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</a:rPr>
              <a:t>(ГБПОУ ЗАМТ)</a:t>
            </a:r>
            <a:endParaRPr lang="ru-RU" sz="1600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graphicFrame>
        <p:nvGraphicFramePr>
          <p:cNvPr id="5" name="Таблица 4"/>
          <p:cNvGraphicFramePr>
            <a:graphicFrameLocks noGrp="1"/>
          </p:cNvGraphicFramePr>
          <p:nvPr/>
        </p:nvGraphicFramePr>
        <p:xfrm>
          <a:off x="858541" y="5083049"/>
          <a:ext cx="10723419" cy="7010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5577765">
                  <a:extLst>
                    <a:ext uri="{9D8B030D-6E8A-4147-A177-3AD203B41FA5}">
                      <a16:colId xmlns:a16="http://schemas.microsoft.com/office/drawing/2014/main" val="856406293"/>
                    </a:ext>
                  </a:extLst>
                </a:gridCol>
                <a:gridCol w="5145654">
                  <a:extLst>
                    <a:ext uri="{9D8B030D-6E8A-4147-A177-3AD203B41FA5}">
                      <a16:colId xmlns:a16="http://schemas.microsoft.com/office/drawing/2014/main" val="357759205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2000" kern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Выполнил: Солоников Антон Сергеевич</a:t>
                      </a:r>
                    </a:p>
                    <a:p>
                      <a:pPr marL="0" algn="l" defTabSz="914400" rtl="0" eaLnBrk="1" latinLnBrk="0" hangingPunct="1"/>
                      <a:r>
                        <a:rPr lang="ru-RU" sz="2000" kern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                       Студент группы ИС-22А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Руководитель:</a:t>
                      </a:r>
                      <a:r>
                        <a:rPr lang="ru-RU" sz="2000" baseline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Харчева Ольга Евгеньевна</a:t>
                      </a:r>
                      <a:endParaRPr lang="ru-RU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476427313"/>
                  </a:ext>
                </a:extLst>
              </a:tr>
            </a:tbl>
          </a:graphicData>
        </a:graphic>
      </p:graphicFrame>
      <p:sp>
        <p:nvSpPr>
          <p:cNvPr id="6" name="Прямоугольник 5"/>
          <p:cNvSpPr/>
          <p:nvPr/>
        </p:nvSpPr>
        <p:spPr>
          <a:xfrm>
            <a:off x="4521201" y="6111642"/>
            <a:ext cx="3149599" cy="707886"/>
          </a:xfrm>
          <a:prstGeom prst="rect">
            <a:avLst/>
          </a:prstGeom>
        </p:spPr>
        <p:txBody>
          <a:bodyPr wrap="square" anchor="ctr">
            <a:spAutoFit/>
          </a:bodyPr>
          <a:lstStyle/>
          <a:p>
            <a:pPr marR="180340" algn="ctr">
              <a:spcAft>
                <a:spcPts val="0"/>
              </a:spcAft>
            </a:pPr>
            <a:r>
              <a:rPr lang="ru-RU" sz="20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Заволжье</a:t>
            </a:r>
          </a:p>
          <a:p>
            <a:pPr marR="180340" algn="ctr">
              <a:spcAft>
                <a:spcPts val="0"/>
              </a:spcAft>
            </a:pPr>
            <a:r>
              <a:rPr lang="ru-RU" sz="20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202</a:t>
            </a:r>
            <a:r>
              <a:rPr lang="en-US" sz="20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6</a:t>
            </a:r>
            <a:endParaRPr lang="ru-RU" sz="2000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00186435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1421</TotalTime>
  <Words>830</Words>
  <Application>Microsoft Office PowerPoint</Application>
  <PresentationFormat>Широкоэкранный</PresentationFormat>
  <Paragraphs>87</Paragraphs>
  <Slides>21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21</vt:i4>
      </vt:variant>
    </vt:vector>
  </HeadingPairs>
  <TitlesOfParts>
    <vt:vector size="27" baseType="lpstr">
      <vt:lpstr>Arial</vt:lpstr>
      <vt:lpstr>Calibri</vt:lpstr>
      <vt:lpstr>Calibri Light</vt:lpstr>
      <vt:lpstr>Corbel (Заголовки)</vt:lpstr>
      <vt:lpstr>Times New Roman</vt:lpstr>
      <vt:lpstr>Тема Office</vt:lpstr>
      <vt:lpstr>ВЫПУСКНАЯ КВАЛИФИКАЦИОННАЯ РАБОТА</vt:lpstr>
      <vt:lpstr>Актуальность темы</vt:lpstr>
      <vt:lpstr>Постановка задачи</vt:lpstr>
      <vt:lpstr>Постановка задачи</vt:lpstr>
      <vt:lpstr>Обоснование выбора среды разработки</vt:lpstr>
      <vt:lpstr>Структура БД – ER-диаграмма</vt:lpstr>
      <vt:lpstr>Диаграмма вариантов использования</vt:lpstr>
      <vt:lpstr>Диаграмма деятельности</vt:lpstr>
      <vt:lpstr>Программные модули</vt:lpstr>
      <vt:lpstr>Программные модули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ВЫПУСКНАЯ КВАЛИФИКАЦИОННАЯ РАБОТА</vt:lpstr>
    </vt:vector>
  </TitlesOfParts>
  <Company>SPecialiST RePack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Пользователь Windows</dc:creator>
  <cp:lastModifiedBy>Антон Солоников</cp:lastModifiedBy>
  <cp:revision>142</cp:revision>
  <dcterms:created xsi:type="dcterms:W3CDTF">2022-06-15T10:15:27Z</dcterms:created>
  <dcterms:modified xsi:type="dcterms:W3CDTF">2026-06-15T18:37:47Z</dcterms:modified>
</cp:coreProperties>
</file>